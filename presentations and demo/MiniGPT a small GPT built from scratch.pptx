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One sentence: we built a miniature GPT where every Transformer component is our own code, trained it on Shakespeare, tested it, ran ablations, and deployed it as an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a small team with a private corpus too small for a foundation model. Our lead engineer asks whether a compact Transformer can still learn the next-token structure. We answer with a model we built ourselves and with measurements. Give the short answer now and promise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An LSTM must process positions one after another, so its sequential depth grows with sequence length. Attention connects all positions in one operation, so depth is constant, but it stores a T by T score matrix per head. We measured both. Be honest: on a small GPU workload the LSTM was just as fast, so we report the depth advantage as theory and the memory growth 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characters become IDs, embeddings plus sinusoidal positions, four pre-LayerNorm blocks (causal multi-head attention and a GELU feed-forward network, each with a residual), a final LayerNorm and a linear head to 65 logits. Parameter count: 16,640 embedding, 789,760 per block, 512 final LayerNorm, 16,640 head. Everything here is our own code; PyTorch only supplies tensors, linear layers, LayerNorm and autograd.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hand calculation. Q equals K equals [[1,0],[0,1],[1,1]], V is [[1,2],[3,4],[5,6]]. Compute QK transpose, divide by root 2, softmax each row, multiply by V. Then add the causal mask: forbidden scores become minus infinity, so their weights are exactly zero and each row still sums to one. Explain what changes: row 1 can only copy its own value, row 2 mixes two tokens, the last row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 hides some tokens and predicts them from both sides, so its attention matrix is full. GPT predicts the next token; if a position could see the future it would just copy the answer, so the matrix must be lower-triangular in training and in generation. Our comparison: changing the last token moves position 0 by 0.127 in the bidirectional case and by exactly zero in the causal case. The same property is a unit test on the full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Multi-head: project to Q, K, V, split the 256 dimensions into 4 heads of 64, run attention in each head, concatenate, and apply an output projection. Split and merge are explicit reshapes in our code, and the shape trace is a figure in the report. Positions: attention treats the sequence as a set, so we add a sinusoidal encoding; low dimensions oscillate fast, high dimensions slowly, so each position gets a unique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is characters 0 to T-1 and the target is characters 1 to T, so the target at position t is the next character after the input at position t. Before the full run we overfit a tiny repeated batch: loss fell from 4.27 to 0.017 in 225 steps, which proves gradients and target shifting are correct. The test suite has 21 tests in 5 files. Show the pytest screenshot in the demo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starts near 4.27, close to uniform guessing over 65 characters (ln 65 is about 4.17), and falls fast in the first 500 steps. It ends at 1.28 on training data and 1.51 on validation data, perplexity 4.51. The gap widens slowly but validation loss never rises, so overfitting is mild; more data would help more than more steps. Mention the validation loss was monitored during training, not only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fixed prompts are in the report; this is the first. The model clearly learned the format of a play and Shakespearean vocabulary, but sentences do not make sense and it occasionally invents words. Interpretation: a character-level model with 3M parameters and 1 MB of data learns spelling, local grammar and layout, not meaning. Be ready to run one live generation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7: attention weights of the last layer on the prompt "ROMEO: O, she doth teach the torches". Observation: every head is strictly lower-triangular, most put weight near the diagonal, and several show bright vertical stripes on the first characters and on word-initial letters. Interpretation: heads seem to combine local spelling context with a few longer lookups. We did not run causal interventions, so say this is a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controlled experiments, each changing one factor. Depth: validation loss 1.8202, 1.7150, 1.6819 for 2, 4, 6 layers; the first doubling gains 0.105, the next only 0.033, and time grows about linearly. Heads: 1.7258, 1.7150, 1.7257 with identical parameter count; the difference is small and we only ran one seed, so we do not claim an effect. Context: 1.7504, 1.7150, 1.7081; time 83, 166, 362 seconds and memory 401, 806, 1821 MB, consistent with quadratic attention memory. Caveat: batch size is fixed, so longer context also means more tokens per step. Ablations used 2,000 steps, so their base loss is higher than the final 5,000-step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handout asks for at least two failure modes; we show three. Greedy decoding collapses into a repetition loop. Samples contain invented words and weak coherence because the model is character-level, small, and trained on little data with a short window. The training-validation gap shows partial memorization. For each one, state the observation first, then the likely cause as an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API at /docs and run one POST /generate call with prompt ROMEO: to show the deployed model. The screenshot is the backup if the service is asleep or the trial credit is used up. Then close with the three takeaways and name one limitation: the model learns the form of Shakespeare, not its meaning. Invite questions; both of us should be ready to explain any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C24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C2430"/>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AyanMoeen/AI-Engineering-Assignment-1" TargetMode="External"/><Relationship Id="rId3" Type="http://schemas.openxmlformats.org/officeDocument/2006/relationships/hyperlink" Target="https://ai-engineering-assignment-1-production.up.railway.app/docs" TargetMode="External"/><Relationship Id="rId4" Type="http://schemas.openxmlformats.org/officeDocument/2006/relationships/hyperlink" Target="https://medium.com/@i230124/building-a-small-gpt-from-scratch-1807dab5e3d8" TargetMode="External"/><Relationship Id="rId1" Type="http://schemas.openxmlformats.org/officeDocument/2006/relationships/image" Target="../media/image-14-1.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6"/>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FD0C8"/>
                </a:solidFill>
                <a:latin typeface="Inter" pitchFamily="34" charset="0"/>
                <a:ea typeface="Inter" pitchFamily="34" charset="-122"/>
                <a:cs typeface="Inter" pitchFamily="34" charset="-120"/>
              </a:rPr>
              <a:t>AI ENGINEERING · TRANSFORMER DEEP DIVE</a:t>
            </a:r>
            <a:endParaRPr lang="en-US" sz="1500" dirty="0"/>
          </a:p>
        </p:txBody>
      </p:sp>
      <p:sp>
        <p:nvSpPr>
          <p:cNvPr id="3" name="Text 1"/>
          <p:cNvSpPr/>
          <p:nvPr>
            <p:ph type="title"/>
          </p:nvPr>
        </p:nvSpPr>
        <p:spPr>
          <a:xfrm>
            <a:off x="812800" y="2363589"/>
            <a:ext cx="10883392" cy="1572220"/>
          </a:xfrm>
          <a:prstGeom prst="rect">
            <a:avLst/>
          </a:prstGeom>
          <a:noFill/>
          <a:ln/>
        </p:spPr>
        <p:txBody>
          <a:bodyPr wrap="square" lIns="0" tIns="0" rIns="0" bIns="0" rtlCol="0" anchor="t">
            <a:normAutofit/>
          </a:bodyPr>
          <a:lstStyle/>
          <a:p>
            <a:pPr algn="l" indent="0" marL="0">
              <a:lnSpc>
                <a:spcPts val="6090"/>
              </a:lnSpc>
              <a:buNone/>
            </a:pPr>
            <a:r>
              <a:rPr lang="en-US" sz="5800" b="1" i="0" dirty="0">
                <a:solidFill>
                  <a:srgbClr val="F3EFE6"/>
                </a:solidFill>
                <a:latin typeface="Source Serif 4" pitchFamily="18" charset="0"/>
                <a:ea typeface="Source Serif 4" pitchFamily="18" charset="-122"/>
                <a:cs typeface="Source Serif 4" pitchFamily="18" charset="-120"/>
              </a:rPr>
              <a:t>Building a small GPT from scratch</a:t>
            </a:r>
            <a:endParaRPr lang="en-US" sz="5800" dirty="0"/>
          </a:p>
        </p:txBody>
      </p:sp>
      <p:sp>
        <p:nvSpPr>
          <p:cNvPr id="4" name="Text 2"/>
          <p:cNvSpPr/>
          <p:nvPr/>
        </p:nvSpPr>
        <p:spPr>
          <a:xfrm>
            <a:off x="812800" y="411360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AB4C3"/>
                </a:solidFill>
                <a:latin typeface="Inter" pitchFamily="34" charset="0"/>
                <a:ea typeface="Inter" pitchFamily="34" charset="-122"/>
                <a:cs typeface="Inter" pitchFamily="34" charset="-120"/>
              </a:rPr>
              <a:t>A 3.2M-parameter causal Transformer trained on Tiny Shakespeare</a:t>
            </a:r>
            <a:endParaRPr lang="en-US" sz="22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EFE6"/>
                </a:solidFill>
                <a:latin typeface="Inter" pitchFamily="34" charset="0"/>
                <a:ea typeface="Inter" pitchFamily="34" charset="-122"/>
                <a:cs typeface="Inter" pitchFamily="34" charset="-120"/>
              </a:rPr>
              <a:t>Ayan Bin Moeen (23I-0124) · Mir Ahmed (23I-0142)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826"/>
        </a:solidFill>
      </p:bgPr>
    </p:bg>
    <p:spTree>
      <p:nvGrpSpPr>
        <p:cNvPr id="1" name=""/>
        <p:cNvGrpSpPr/>
        <p:nvPr/>
      </p:nvGrpSpPr>
      <p:grpSpPr>
        <a:xfrm>
          <a:off x="0" y="0"/>
          <a:ext cx="0" cy="0"/>
          <a:chOff x="0" y="0"/>
          <a:chExt cx="0" cy="0"/>
        </a:xfrm>
      </p:grpSpPr>
      <p:sp>
        <p:nvSpPr>
          <p:cNvPr id="2" name="Text 0"/>
          <p:cNvSpPr/>
          <p:nvPr/>
        </p:nvSpPr>
        <p:spPr>
          <a:xfrm>
            <a:off x="812800" y="185707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FD0C8"/>
                </a:solidFill>
                <a:latin typeface="Inter" pitchFamily="34" charset="0"/>
                <a:ea typeface="Inter" pitchFamily="34" charset="-122"/>
                <a:cs typeface="Inter" pitchFamily="34" charset="-120"/>
              </a:rPr>
              <a:t>THE QUESTION</a:t>
            </a:r>
            <a:endParaRPr lang="en-US" sz="1500" dirty="0"/>
          </a:p>
        </p:txBody>
      </p:sp>
      <p:sp>
        <p:nvSpPr>
          <p:cNvPr id="3" name="Text 1"/>
          <p:cNvSpPr/>
          <p:nvPr>
            <p:ph type="title"/>
          </p:nvPr>
        </p:nvSpPr>
        <p:spPr>
          <a:xfrm>
            <a:off x="812800" y="2479377"/>
            <a:ext cx="10883392" cy="1865511"/>
          </a:xfrm>
          <a:prstGeom prst="rect">
            <a:avLst/>
          </a:prstGeom>
          <a:noFill/>
          <a:ln/>
        </p:spPr>
        <p:txBody>
          <a:bodyPr wrap="square" lIns="0" tIns="0" rIns="0" bIns="0" rtlCol="0" anchor="t">
            <a:normAutofit/>
          </a:bodyPr>
          <a:lstStyle/>
          <a:p>
            <a:pPr algn="l" indent="0" marL="0">
              <a:lnSpc>
                <a:spcPts val="4830"/>
              </a:lnSpc>
              <a:buNone/>
            </a:pPr>
            <a:r>
              <a:rPr lang="en-US" sz="4200" b="1" i="0" dirty="0">
                <a:solidFill>
                  <a:srgbClr val="F3EFE6"/>
                </a:solidFill>
                <a:latin typeface="Source Serif 4" pitchFamily="18" charset="0"/>
                <a:ea typeface="Source Serif 4" pitchFamily="18" charset="-122"/>
                <a:cs typeface="Source Serif 4" pitchFamily="18" charset="-120"/>
              </a:rPr>
              <a:t>Can a small Transformer, trained from scratch, learn the next-token structure of a domain corpus?</a:t>
            </a:r>
            <a:endParaRPr lang="en-US" sz="4200" dirty="0"/>
          </a:p>
        </p:txBody>
      </p:sp>
      <p:sp>
        <p:nvSpPr>
          <p:cNvPr id="4" name="Text 2"/>
          <p:cNvSpPr/>
          <p:nvPr/>
        </p:nvSpPr>
        <p:spPr>
          <a:xfrm>
            <a:off x="812800" y="4675088"/>
            <a:ext cx="10883392" cy="35113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AAB4C3"/>
                </a:solidFill>
                <a:latin typeface="Inter" pitchFamily="34" charset="0"/>
                <a:ea typeface="Inter" pitchFamily="34" charset="-122"/>
                <a:cs typeface="Inter" pitchFamily="34" charset="-120"/>
              </a:rPr>
              <a:t>Short answer: it learns the form of Shakespeare. It does not learn meaning.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7532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Why Transformers: parallel depth, paid for in memory</a:t>
            </a:r>
            <a:endParaRPr lang="en-US" sz="3400" dirty="0"/>
          </a:p>
        </p:txBody>
      </p:sp>
      <p:sp>
        <p:nvSpPr>
          <p:cNvPr id="3" name="Shape 1"/>
          <p:cNvSpPr/>
          <p:nvPr/>
        </p:nvSpPr>
        <p:spPr>
          <a:xfrm>
            <a:off x="815975" y="2019895"/>
            <a:ext cx="3380284" cy="2141141"/>
          </a:xfrm>
          <a:prstGeom prst="roundRect">
            <a:avLst>
              <a:gd name="adj" fmla="val 4597"/>
            </a:avLst>
          </a:prstGeom>
          <a:solidFill>
            <a:srgbClr val="FFFFFF"/>
          </a:solidFill>
          <a:ln w="6350">
            <a:solidFill>
              <a:srgbClr val="E0DCCF"/>
            </a:solidFill>
            <a:prstDash val="solid"/>
          </a:ln>
        </p:spPr>
      </p:sp>
      <p:sp>
        <p:nvSpPr>
          <p:cNvPr id="4" name="Text 2"/>
          <p:cNvSpPr/>
          <p:nvPr/>
        </p:nvSpPr>
        <p:spPr>
          <a:xfrm>
            <a:off x="1073150" y="227707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Recurrent (LSTM)</a:t>
            </a:r>
            <a:endParaRPr lang="en-US" sz="1700" dirty="0"/>
          </a:p>
        </p:txBody>
      </p:sp>
      <p:sp>
        <p:nvSpPr>
          <p:cNvPr id="5" name="Text 3"/>
          <p:cNvSpPr/>
          <p:nvPr/>
        </p:nvSpPr>
        <p:spPr>
          <a:xfrm>
            <a:off x="1073150" y="2625030"/>
            <a:ext cx="2951912" cy="700980"/>
          </a:xfrm>
          <a:prstGeom prst="rect">
            <a:avLst/>
          </a:prstGeom>
          <a:noFill/>
          <a:ln/>
        </p:spPr>
        <p:txBody>
          <a:bodyPr wrap="square" lIns="0" tIns="0" rIns="0" bIns="0" rtlCol="0" anchor="t">
            <a:normAutofit/>
          </a:bodyPr>
          <a:lstStyle/>
          <a:p>
            <a:pPr algn="l" indent="0" marL="0">
              <a:lnSpc>
                <a:spcPts val="5320"/>
              </a:lnSpc>
              <a:buNone/>
            </a:pPr>
            <a:r>
              <a:rPr lang="en-US" sz="3800" b="1" dirty="0">
                <a:solidFill>
                  <a:srgbClr val="A85410"/>
                </a:solidFill>
                <a:latin typeface="Source Serif 4" pitchFamily="18" charset="0"/>
                <a:ea typeface="Source Serif 4" pitchFamily="18" charset="-122"/>
                <a:cs typeface="Source Serif 4" pitchFamily="18" charset="-120"/>
              </a:rPr>
              <a:t>O(T)</a:t>
            </a:r>
            <a:endParaRPr lang="en-US" sz="3800" dirty="0"/>
          </a:p>
        </p:txBody>
      </p:sp>
      <p:sp>
        <p:nvSpPr>
          <p:cNvPr id="6" name="Text 4"/>
          <p:cNvSpPr/>
          <p:nvPr/>
        </p:nvSpPr>
        <p:spPr>
          <a:xfrm>
            <a:off x="1073150" y="3389511"/>
            <a:ext cx="29519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452"/>
                </a:solidFill>
                <a:latin typeface="Inter" pitchFamily="34" charset="0"/>
                <a:ea typeface="Inter" pitchFamily="34" charset="-122"/>
                <a:cs typeface="Inter" pitchFamily="34" charset="-120"/>
              </a:rPr>
              <a:t>Sequential steps. Step t waits for step t-1.</a:t>
            </a:r>
            <a:endParaRPr lang="en-US" sz="1500" dirty="0"/>
          </a:p>
        </p:txBody>
      </p:sp>
      <p:sp>
        <p:nvSpPr>
          <p:cNvPr id="7" name="Shape 5"/>
          <p:cNvSpPr/>
          <p:nvPr/>
        </p:nvSpPr>
        <p:spPr>
          <a:xfrm>
            <a:off x="4405809" y="2019895"/>
            <a:ext cx="3380383" cy="2141141"/>
          </a:xfrm>
          <a:prstGeom prst="roundRect">
            <a:avLst>
              <a:gd name="adj" fmla="val 4597"/>
            </a:avLst>
          </a:prstGeom>
          <a:solidFill>
            <a:srgbClr val="FFFFFF"/>
          </a:solidFill>
          <a:ln w="6350">
            <a:solidFill>
              <a:srgbClr val="E0DCCF"/>
            </a:solidFill>
            <a:prstDash val="solid"/>
          </a:ln>
        </p:spPr>
      </p:sp>
      <p:sp>
        <p:nvSpPr>
          <p:cNvPr id="8" name="Text 6"/>
          <p:cNvSpPr/>
          <p:nvPr/>
        </p:nvSpPr>
        <p:spPr>
          <a:xfrm>
            <a:off x="4662984" y="2277070"/>
            <a:ext cx="295201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Self-attention</a:t>
            </a:r>
            <a:endParaRPr lang="en-US" sz="1700" dirty="0"/>
          </a:p>
        </p:txBody>
      </p:sp>
      <p:sp>
        <p:nvSpPr>
          <p:cNvPr id="9" name="Text 7"/>
          <p:cNvSpPr/>
          <p:nvPr/>
        </p:nvSpPr>
        <p:spPr>
          <a:xfrm>
            <a:off x="4662984" y="2625030"/>
            <a:ext cx="2952014" cy="700980"/>
          </a:xfrm>
          <a:prstGeom prst="rect">
            <a:avLst/>
          </a:prstGeom>
          <a:noFill/>
          <a:ln/>
        </p:spPr>
        <p:txBody>
          <a:bodyPr wrap="square" lIns="0" tIns="0" rIns="0" bIns="0" rtlCol="0" anchor="t">
            <a:normAutofit/>
          </a:bodyPr>
          <a:lstStyle/>
          <a:p>
            <a:pPr algn="l" indent="0" marL="0">
              <a:lnSpc>
                <a:spcPts val="5320"/>
              </a:lnSpc>
              <a:buNone/>
            </a:pPr>
            <a:r>
              <a:rPr lang="en-US" sz="3800" b="1" dirty="0">
                <a:solidFill>
                  <a:srgbClr val="0E7C7B"/>
                </a:solidFill>
                <a:latin typeface="Source Serif 4" pitchFamily="18" charset="0"/>
                <a:ea typeface="Source Serif 4" pitchFamily="18" charset="-122"/>
                <a:cs typeface="Source Serif 4" pitchFamily="18" charset="-120"/>
              </a:rPr>
              <a:t>O(1)</a:t>
            </a:r>
            <a:endParaRPr lang="en-US" sz="3800" dirty="0"/>
          </a:p>
        </p:txBody>
      </p:sp>
      <p:sp>
        <p:nvSpPr>
          <p:cNvPr id="10" name="Text 8"/>
          <p:cNvSpPr/>
          <p:nvPr/>
        </p:nvSpPr>
        <p:spPr>
          <a:xfrm>
            <a:off x="4662984" y="3389511"/>
            <a:ext cx="295201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452"/>
                </a:solidFill>
                <a:latin typeface="Inter" pitchFamily="34" charset="0"/>
                <a:ea typeface="Inter" pitchFamily="34" charset="-122"/>
                <a:cs typeface="Inter" pitchFamily="34" charset="-120"/>
              </a:rPr>
              <a:t>Sequential steps. All positions computed at once.</a:t>
            </a:r>
            <a:endParaRPr lang="en-US" sz="1500" dirty="0"/>
          </a:p>
        </p:txBody>
      </p:sp>
      <p:sp>
        <p:nvSpPr>
          <p:cNvPr id="11" name="Shape 9"/>
          <p:cNvSpPr/>
          <p:nvPr/>
        </p:nvSpPr>
        <p:spPr>
          <a:xfrm>
            <a:off x="7995741" y="2019895"/>
            <a:ext cx="3380284" cy="2141141"/>
          </a:xfrm>
          <a:prstGeom prst="roundRect">
            <a:avLst>
              <a:gd name="adj" fmla="val 4597"/>
            </a:avLst>
          </a:prstGeom>
          <a:solidFill>
            <a:srgbClr val="FFFFFF"/>
          </a:solidFill>
          <a:ln w="6350">
            <a:solidFill>
              <a:srgbClr val="E0DCCF"/>
            </a:solidFill>
            <a:prstDash val="solid"/>
          </a:ln>
        </p:spPr>
      </p:sp>
      <p:sp>
        <p:nvSpPr>
          <p:cNvPr id="12" name="Text 10"/>
          <p:cNvSpPr/>
          <p:nvPr/>
        </p:nvSpPr>
        <p:spPr>
          <a:xfrm>
            <a:off x="8252916" y="227707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The price</a:t>
            </a:r>
            <a:endParaRPr lang="en-US" sz="1700" dirty="0"/>
          </a:p>
        </p:txBody>
      </p:sp>
      <p:sp>
        <p:nvSpPr>
          <p:cNvPr id="13" name="Text 11"/>
          <p:cNvSpPr/>
          <p:nvPr/>
        </p:nvSpPr>
        <p:spPr>
          <a:xfrm>
            <a:off x="8252916" y="2625030"/>
            <a:ext cx="2951912" cy="700980"/>
          </a:xfrm>
          <a:prstGeom prst="rect">
            <a:avLst/>
          </a:prstGeom>
          <a:noFill/>
          <a:ln/>
        </p:spPr>
        <p:txBody>
          <a:bodyPr wrap="square" lIns="0" tIns="0" rIns="0" bIns="0" rtlCol="0" anchor="t">
            <a:normAutofit/>
          </a:bodyPr>
          <a:lstStyle/>
          <a:p>
            <a:pPr algn="l" indent="0" marL="0">
              <a:lnSpc>
                <a:spcPts val="5320"/>
              </a:lnSpc>
              <a:buNone/>
            </a:pPr>
            <a:r>
              <a:rPr lang="en-US" sz="3800" b="1" dirty="0">
                <a:solidFill>
                  <a:srgbClr val="A85410"/>
                </a:solidFill>
                <a:latin typeface="Source Serif 4" pitchFamily="18" charset="0"/>
                <a:ea typeface="Source Serif 4" pitchFamily="18" charset="-122"/>
                <a:cs typeface="Source Serif 4" pitchFamily="18" charset="-120"/>
              </a:rPr>
              <a:t>O(T²)</a:t>
            </a:r>
            <a:endParaRPr lang="en-US" sz="3800" dirty="0"/>
          </a:p>
        </p:txBody>
      </p:sp>
      <p:sp>
        <p:nvSpPr>
          <p:cNvPr id="14" name="Text 12"/>
          <p:cNvSpPr/>
          <p:nvPr/>
        </p:nvSpPr>
        <p:spPr>
          <a:xfrm>
            <a:off x="8252916" y="3389511"/>
            <a:ext cx="29519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4452"/>
                </a:solidFill>
                <a:latin typeface="Inter" pitchFamily="34" charset="0"/>
                <a:ea typeface="Inter" pitchFamily="34" charset="-122"/>
                <a:cs typeface="Inter" pitchFamily="34" charset="-120"/>
              </a:rPr>
              <a:t>Score memory: 1, 4, 16, 64 MB for T = 64 to 512 (measured).</a:t>
            </a:r>
            <a:endParaRPr lang="en-US" sz="1500" dirty="0"/>
          </a:p>
        </p:txBody>
      </p:sp>
      <p:sp>
        <p:nvSpPr>
          <p:cNvPr id="15" name="Text 13"/>
          <p:cNvSpPr/>
          <p:nvPr/>
        </p:nvSpPr>
        <p:spPr>
          <a:xfrm>
            <a:off x="812800" y="441821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573"/>
                </a:solidFill>
                <a:latin typeface="Inter" pitchFamily="34" charset="0"/>
                <a:ea typeface="Inter" pitchFamily="34" charset="-122"/>
                <a:cs typeface="Inter" pitchFamily="34" charset="-120"/>
              </a:rPr>
              <a:t>Measured on a GPU: speed was similar at our sizes (T = 128: LSTM 2.7 ms, attention 3.5 ms). The depth advantage is theoretical here; the memory cost is confirmed.</a:t>
            </a:r>
            <a:endParaRPr lang="en-US" sz="1500" dirty="0"/>
          </a:p>
        </p:txBody>
      </p:sp>
      <p:sp>
        <p:nvSpPr>
          <p:cNvPr id="16" name="Text 14"/>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3713"/>
          </a:xfrm>
          <a:prstGeom prst="rect">
            <a:avLst/>
          </a:prstGeom>
          <a:noFill/>
          <a:ln/>
        </p:spPr>
        <p:txBody>
          <a:bodyPr wrap="square" lIns="0" tIns="0" rIns="0" bIns="0" rtlCol="0" anchor="t">
            <a:normAutofit/>
          </a:bodyPr>
          <a:lstStyle/>
          <a:p>
            <a:pPr algn="l" indent="0" marL="0">
              <a:lnSpc>
                <a:spcPts val="3717"/>
              </a:lnSpc>
              <a:buNone/>
            </a:pPr>
            <a:r>
              <a:rPr lang="en-US" sz="3379" b="1" i="0" dirty="0">
                <a:solidFill>
                  <a:srgbClr val="1C2430"/>
                </a:solidFill>
                <a:latin typeface="Source Serif 4" pitchFamily="18" charset="0"/>
                <a:ea typeface="Source Serif 4" pitchFamily="18" charset="-122"/>
                <a:cs typeface="Source Serif 4" pitchFamily="18" charset="-120"/>
              </a:rPr>
              <a:t>The MiniGPT architecture</a:t>
            </a:r>
            <a:endParaRPr lang="en-US" sz="3379" dirty="0"/>
          </a:p>
        </p:txBody>
      </p:sp>
      <p:sp>
        <p:nvSpPr>
          <p:cNvPr id="3" name="Shape 1"/>
          <p:cNvSpPr/>
          <p:nvPr/>
        </p:nvSpPr>
        <p:spPr>
          <a:xfrm>
            <a:off x="812800" y="1631156"/>
            <a:ext cx="4064000" cy="4064000"/>
          </a:xfrm>
          <a:prstGeom prst="roundRect">
            <a:avLst>
              <a:gd name="adj" fmla="val 2500"/>
            </a:avLst>
          </a:prstGeom>
          <a:solidFill>
            <a:srgbClr val="FFFFFF"/>
          </a:solidFill>
          <a:ln/>
        </p:spPr>
      </p:sp>
      <p:pic>
        <p:nvPicPr>
          <p:cNvPr id="4" name="Image 0" descr="MiniGPT architecture diagram: tokenizer, embedding, sinusoidal positions, four pre-LN Transformer blocks, final LayerNorm, LM head">    </p:cNvPr>
          <p:cNvPicPr>
            <a:picLocks noChangeAspect="1"/>
          </p:cNvPicPr>
          <p:nvPr/>
        </p:nvPicPr>
        <p:blipFill>
          <a:blip r:embed="rId1"/>
          <a:srcRect l="0" r="0" t="-339" b="-339"/>
          <a:stretch/>
        </p:blipFill>
        <p:spPr>
          <a:xfrm>
            <a:off x="819150" y="1637506"/>
            <a:ext cx="4051300" cy="4051300"/>
          </a:xfrm>
          <a:prstGeom prst="roundRect">
            <a:avLst>
              <a:gd name="adj" fmla="val 2351"/>
            </a:avLst>
          </a:prstGeom>
        </p:spPr>
      </p:pic>
      <p:sp>
        <p:nvSpPr>
          <p:cNvPr id="5" name="Shape 2"/>
          <p:cNvSpPr/>
          <p:nvPr/>
        </p:nvSpPr>
        <p:spPr>
          <a:xfrm>
            <a:off x="815975" y="1634331"/>
            <a:ext cx="4057650" cy="4057650"/>
          </a:xfrm>
          <a:prstGeom prst="roundRect">
            <a:avLst>
              <a:gd name="adj" fmla="val 2426"/>
            </a:avLst>
          </a:prstGeom>
          <a:noFill/>
          <a:ln w="6350">
            <a:solidFill>
              <a:srgbClr val="E0DCCF"/>
            </a:solidFill>
            <a:prstDash val="solid"/>
          </a:ln>
        </p:spPr>
      </p:sp>
      <p:sp>
        <p:nvSpPr>
          <p:cNvPr id="6" name="Shape 3"/>
          <p:cNvSpPr/>
          <p:nvPr/>
        </p:nvSpPr>
        <p:spPr>
          <a:xfrm>
            <a:off x="5235575" y="1456630"/>
            <a:ext cx="6140450" cy="1235670"/>
          </a:xfrm>
          <a:prstGeom prst="roundRect">
            <a:avLst>
              <a:gd name="adj" fmla="val 7965"/>
            </a:avLst>
          </a:prstGeom>
          <a:solidFill>
            <a:srgbClr val="FFFFFF"/>
          </a:solidFill>
          <a:ln w="6350">
            <a:solidFill>
              <a:srgbClr val="E0DCCF"/>
            </a:solidFill>
            <a:prstDash val="solid"/>
          </a:ln>
        </p:spPr>
      </p:sp>
      <p:sp>
        <p:nvSpPr>
          <p:cNvPr id="7" name="Text 4"/>
          <p:cNvSpPr/>
          <p:nvPr/>
        </p:nvSpPr>
        <p:spPr>
          <a:xfrm>
            <a:off x="5467350" y="1637605"/>
            <a:ext cx="5847207"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3,192,832</a:t>
            </a:r>
            <a:endParaRPr lang="en-US" sz="3200" dirty="0"/>
          </a:p>
        </p:txBody>
      </p:sp>
      <p:sp>
        <p:nvSpPr>
          <p:cNvPr id="8" name="Text 5"/>
          <p:cNvSpPr/>
          <p:nvPr/>
        </p:nvSpPr>
        <p:spPr>
          <a:xfrm>
            <a:off x="5467350" y="2244626"/>
            <a:ext cx="58472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trainable parameters</a:t>
            </a:r>
            <a:endParaRPr lang="en-US" sz="1500" dirty="0"/>
          </a:p>
        </p:txBody>
      </p:sp>
      <p:sp>
        <p:nvSpPr>
          <p:cNvPr id="9" name="Shape 6"/>
          <p:cNvSpPr/>
          <p:nvPr/>
        </p:nvSpPr>
        <p:spPr>
          <a:xfrm>
            <a:off x="5235575" y="2825651"/>
            <a:ext cx="6140450" cy="925810"/>
          </a:xfrm>
          <a:prstGeom prst="roundRect">
            <a:avLst>
              <a:gd name="adj" fmla="val 10631"/>
            </a:avLst>
          </a:prstGeom>
          <a:solidFill>
            <a:srgbClr val="FFFFFF"/>
          </a:solidFill>
          <a:ln w="6350">
            <a:solidFill>
              <a:srgbClr val="E0DCCF"/>
            </a:solidFill>
            <a:prstDash val="solid"/>
          </a:ln>
        </p:spPr>
      </p:sp>
      <p:sp>
        <p:nvSpPr>
          <p:cNvPr id="10" name="Text 7"/>
          <p:cNvSpPr/>
          <p:nvPr/>
        </p:nvSpPr>
        <p:spPr>
          <a:xfrm>
            <a:off x="5467350" y="3006626"/>
            <a:ext cx="58472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d_model 256 · 4 heads · 4 layers</a:t>
            </a:r>
            <a:endParaRPr lang="en-US" sz="1700" dirty="0"/>
          </a:p>
        </p:txBody>
      </p:sp>
      <p:sp>
        <p:nvSpPr>
          <p:cNvPr id="11" name="Text 8"/>
          <p:cNvSpPr/>
          <p:nvPr/>
        </p:nvSpPr>
        <p:spPr>
          <a:xfrm>
            <a:off x="5467350" y="3303786"/>
            <a:ext cx="58472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FFN 1024 with GELU, dropout 0.1</a:t>
            </a:r>
            <a:endParaRPr lang="en-US" sz="1500" dirty="0"/>
          </a:p>
        </p:txBody>
      </p:sp>
      <p:sp>
        <p:nvSpPr>
          <p:cNvPr id="12" name="Shape 9"/>
          <p:cNvSpPr/>
          <p:nvPr/>
        </p:nvSpPr>
        <p:spPr>
          <a:xfrm>
            <a:off x="5235575" y="3884811"/>
            <a:ext cx="6140450" cy="925810"/>
          </a:xfrm>
          <a:prstGeom prst="roundRect">
            <a:avLst>
              <a:gd name="adj" fmla="val 10631"/>
            </a:avLst>
          </a:prstGeom>
          <a:solidFill>
            <a:srgbClr val="FFFFFF"/>
          </a:solidFill>
          <a:ln w="6350">
            <a:solidFill>
              <a:srgbClr val="E0DCCF"/>
            </a:solidFill>
            <a:prstDash val="solid"/>
          </a:ln>
        </p:spPr>
      </p:sp>
      <p:sp>
        <p:nvSpPr>
          <p:cNvPr id="13" name="Text 10"/>
          <p:cNvSpPr/>
          <p:nvPr/>
        </p:nvSpPr>
        <p:spPr>
          <a:xfrm>
            <a:off x="5467350" y="4065786"/>
            <a:ext cx="58472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Context 128 · vocab 65 characters</a:t>
            </a:r>
            <a:endParaRPr lang="en-US" sz="1700" dirty="0"/>
          </a:p>
        </p:txBody>
      </p:sp>
      <p:sp>
        <p:nvSpPr>
          <p:cNvPr id="14" name="Text 11"/>
          <p:cNvSpPr/>
          <p:nvPr/>
        </p:nvSpPr>
        <p:spPr>
          <a:xfrm>
            <a:off x="5467350" y="4362946"/>
            <a:ext cx="58472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Character-level tokenizer, no special tokens</a:t>
            </a:r>
            <a:endParaRPr lang="en-US" sz="1500" dirty="0"/>
          </a:p>
        </p:txBody>
      </p:sp>
      <p:sp>
        <p:nvSpPr>
          <p:cNvPr id="15" name="Shape 12"/>
          <p:cNvSpPr/>
          <p:nvPr/>
        </p:nvSpPr>
        <p:spPr>
          <a:xfrm>
            <a:off x="5235575" y="4943971"/>
            <a:ext cx="6140450" cy="925810"/>
          </a:xfrm>
          <a:prstGeom prst="roundRect">
            <a:avLst>
              <a:gd name="adj" fmla="val 10631"/>
            </a:avLst>
          </a:prstGeom>
          <a:solidFill>
            <a:srgbClr val="FFFFFF"/>
          </a:solidFill>
          <a:ln w="6350">
            <a:solidFill>
              <a:srgbClr val="E0DCCF"/>
            </a:solidFill>
            <a:prstDash val="solid"/>
          </a:ln>
        </p:spPr>
      </p:sp>
      <p:sp>
        <p:nvSpPr>
          <p:cNvPr id="16" name="Text 13"/>
          <p:cNvSpPr/>
          <p:nvPr/>
        </p:nvSpPr>
        <p:spPr>
          <a:xfrm>
            <a:off x="5467350" y="5124946"/>
            <a:ext cx="58472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Pre-LayerNorm + residuals</a:t>
            </a:r>
            <a:endParaRPr lang="en-US" sz="1700" dirty="0"/>
          </a:p>
        </p:txBody>
      </p:sp>
      <p:sp>
        <p:nvSpPr>
          <p:cNvPr id="17" name="Text 14"/>
          <p:cNvSpPr/>
          <p:nvPr/>
        </p:nvSpPr>
        <p:spPr>
          <a:xfrm>
            <a:off x="5467350" y="5422106"/>
            <a:ext cx="58472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Sinusoidal positions, untied LM head</a:t>
            </a:r>
            <a:endParaRPr lang="en-US" sz="1500" dirty="0"/>
          </a:p>
        </p:txBody>
      </p:sp>
      <p:sp>
        <p:nvSpPr>
          <p:cNvPr id="18" name="Text 15"/>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Attention by hand: 3 tokens, d_k = 2</a:t>
            </a:r>
            <a:endParaRPr lang="en-US" sz="3400" dirty="0"/>
          </a:p>
        </p:txBody>
      </p:sp>
      <p:sp>
        <p:nvSpPr>
          <p:cNvPr id="3" name="Shape 1"/>
          <p:cNvSpPr/>
          <p:nvPr/>
        </p:nvSpPr>
        <p:spPr>
          <a:xfrm>
            <a:off x="2603500" y="1465560"/>
            <a:ext cx="6985000" cy="3276600"/>
          </a:xfrm>
          <a:prstGeom prst="roundRect">
            <a:avLst>
              <a:gd name="adj" fmla="val 3101"/>
            </a:avLst>
          </a:prstGeom>
          <a:solidFill>
            <a:srgbClr val="FFFFFF"/>
          </a:solidFill>
          <a:ln/>
        </p:spPr>
      </p:sp>
      <p:pic>
        <p:nvPicPr>
          <p:cNvPr id="4" name="Image 0" descr="Hand-calculated attention: Q, K, V, QK transpose, scaled scores, softmax weights and output for a 3-token example">    </p:cNvPr>
          <p:cNvPicPr>
            <a:picLocks noChangeAspect="1"/>
          </p:cNvPicPr>
          <p:nvPr/>
        </p:nvPicPr>
        <p:blipFill>
          <a:blip r:embed="rId1"/>
          <a:srcRect l="0" r="0" t="-156" b="-156"/>
          <a:stretch/>
        </p:blipFill>
        <p:spPr>
          <a:xfrm>
            <a:off x="2609850" y="1471910"/>
            <a:ext cx="6972300" cy="3263900"/>
          </a:xfrm>
          <a:prstGeom prst="roundRect">
            <a:avLst>
              <a:gd name="adj" fmla="val 2918"/>
            </a:avLst>
          </a:prstGeom>
        </p:spPr>
      </p:pic>
      <p:sp>
        <p:nvSpPr>
          <p:cNvPr id="5" name="Shape 2"/>
          <p:cNvSpPr/>
          <p:nvPr/>
        </p:nvSpPr>
        <p:spPr>
          <a:xfrm>
            <a:off x="2606675" y="1468735"/>
            <a:ext cx="6978650" cy="3270250"/>
          </a:xfrm>
          <a:prstGeom prst="roundRect">
            <a:avLst>
              <a:gd name="adj" fmla="val 3010"/>
            </a:avLst>
          </a:prstGeom>
          <a:noFill/>
          <a:ln w="6350">
            <a:solidFill>
              <a:srgbClr val="E0DCCF"/>
            </a:solidFill>
            <a:prstDash val="solid"/>
          </a:ln>
        </p:spPr>
      </p:sp>
      <p:sp>
        <p:nvSpPr>
          <p:cNvPr id="6" name="Text 3"/>
          <p:cNvSpPr/>
          <p:nvPr/>
        </p:nvSpPr>
        <p:spPr>
          <a:xfrm>
            <a:off x="812800" y="491996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452"/>
                </a:solidFill>
                <a:latin typeface="Inter" pitchFamily="34" charset="0"/>
                <a:ea typeface="Inter" pitchFamily="34" charset="-122"/>
                <a:cs typeface="Inter" pitchFamily="34" charset="-120"/>
              </a:rPr>
              <a:t>With the causal mask, token 1 sees only itself: its output becomes exactly [1, 2]. Token 2 mixes two tokens ([3.41, 4.41] becomes [2.34, 3.34]). Token 3 already sees everything, so it does not change.</a:t>
            </a:r>
            <a:endParaRPr lang="en-US" sz="1600" dirty="0"/>
          </a:p>
        </p:txBody>
      </p:sp>
      <p:sp>
        <p:nvSpPr>
          <p:cNvPr id="7" name="Text 4"/>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Why GPT is causal and BERT is not</a:t>
            </a:r>
            <a:endParaRPr lang="en-US" sz="3400" dirty="0"/>
          </a:p>
        </p:txBody>
      </p:sp>
      <p:sp>
        <p:nvSpPr>
          <p:cNvPr id="3" name="Shape 1"/>
          <p:cNvSpPr/>
          <p:nvPr/>
        </p:nvSpPr>
        <p:spPr>
          <a:xfrm>
            <a:off x="812800" y="1541760"/>
            <a:ext cx="6096000" cy="3302000"/>
          </a:xfrm>
          <a:prstGeom prst="roundRect">
            <a:avLst>
              <a:gd name="adj" fmla="val 3077"/>
            </a:avLst>
          </a:prstGeom>
          <a:solidFill>
            <a:srgbClr val="FFFFFF"/>
          </a:solidFill>
          <a:ln/>
        </p:spPr>
      </p:sp>
      <p:pic>
        <p:nvPicPr>
          <p:cNvPr id="4" name="Image 0" descr="Bidirectional (BERT-style) attention mask next to causal (GPT-style) lower-triangular mask">    </p:cNvPr>
          <p:cNvPicPr>
            <a:picLocks noChangeAspect="1"/>
          </p:cNvPicPr>
          <p:nvPr/>
        </p:nvPicPr>
        <p:blipFill>
          <a:blip r:embed="rId1"/>
          <a:stretch>
            <a:fillRect/>
          </a:stretch>
        </p:blipFill>
        <p:spPr>
          <a:xfrm>
            <a:off x="819150" y="1884851"/>
            <a:ext cx="6083300" cy="2615819"/>
          </a:xfrm>
          <a:prstGeom prst="rect">
            <a:avLst/>
          </a:prstGeom>
        </p:spPr>
      </p:pic>
      <p:sp>
        <p:nvSpPr>
          <p:cNvPr id="5" name="Shape 2"/>
          <p:cNvSpPr/>
          <p:nvPr/>
        </p:nvSpPr>
        <p:spPr>
          <a:xfrm>
            <a:off x="815975" y="1544935"/>
            <a:ext cx="6089650" cy="3295650"/>
          </a:xfrm>
          <a:prstGeom prst="roundRect">
            <a:avLst>
              <a:gd name="adj" fmla="val 2987"/>
            </a:avLst>
          </a:prstGeom>
          <a:noFill/>
          <a:ln w="6350">
            <a:solidFill>
              <a:srgbClr val="E0DCCF"/>
            </a:solidFill>
            <a:prstDash val="solid"/>
          </a:ln>
        </p:spPr>
      </p:sp>
      <p:sp>
        <p:nvSpPr>
          <p:cNvPr id="6" name="Text 3"/>
          <p:cNvSpPr/>
          <p:nvPr/>
        </p:nvSpPr>
        <p:spPr>
          <a:xfrm>
            <a:off x="7213600" y="1549499"/>
            <a:ext cx="42905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Experiment: change only the last token, then look at the output at position 0.</a:t>
            </a:r>
            <a:endParaRPr lang="en-US" sz="1500" dirty="0"/>
          </a:p>
        </p:txBody>
      </p:sp>
      <p:sp>
        <p:nvSpPr>
          <p:cNvPr id="7" name="Shape 4"/>
          <p:cNvSpPr/>
          <p:nvPr/>
        </p:nvSpPr>
        <p:spPr>
          <a:xfrm>
            <a:off x="7216775" y="2238474"/>
            <a:ext cx="4159250" cy="1217811"/>
          </a:xfrm>
          <a:prstGeom prst="roundRect">
            <a:avLst>
              <a:gd name="adj" fmla="val 8082"/>
            </a:avLst>
          </a:prstGeom>
          <a:solidFill>
            <a:srgbClr val="FFFFFF"/>
          </a:solidFill>
          <a:ln w="6350">
            <a:solidFill>
              <a:srgbClr val="E0DCCF"/>
            </a:solidFill>
            <a:prstDash val="solid"/>
          </a:ln>
        </p:spPr>
      </p:sp>
      <p:sp>
        <p:nvSpPr>
          <p:cNvPr id="8" name="Text 5"/>
          <p:cNvSpPr/>
          <p:nvPr/>
        </p:nvSpPr>
        <p:spPr>
          <a:xfrm>
            <a:off x="7448550" y="2419449"/>
            <a:ext cx="380657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A85410"/>
                </a:solidFill>
                <a:latin typeface="Source Serif 4" pitchFamily="18" charset="0"/>
                <a:ea typeface="Source Serif 4" pitchFamily="18" charset="-122"/>
                <a:cs typeface="Source Serif 4" pitchFamily="18" charset="-120"/>
              </a:rPr>
              <a:t>0.127</a:t>
            </a:r>
            <a:endParaRPr lang="en-US" sz="3200" dirty="0"/>
          </a:p>
        </p:txBody>
      </p:sp>
      <p:sp>
        <p:nvSpPr>
          <p:cNvPr id="9" name="Text 6"/>
          <p:cNvSpPr/>
          <p:nvPr/>
        </p:nvSpPr>
        <p:spPr>
          <a:xfrm>
            <a:off x="7448550" y="3026470"/>
            <a:ext cx="38065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Bidirectional: position 0 sees the future</a:t>
            </a:r>
            <a:endParaRPr lang="en-US" sz="1400" dirty="0"/>
          </a:p>
        </p:txBody>
      </p:sp>
      <p:sp>
        <p:nvSpPr>
          <p:cNvPr id="10" name="Shape 7"/>
          <p:cNvSpPr/>
          <p:nvPr/>
        </p:nvSpPr>
        <p:spPr>
          <a:xfrm>
            <a:off x="7216775" y="3615035"/>
            <a:ext cx="4159250" cy="1217811"/>
          </a:xfrm>
          <a:prstGeom prst="roundRect">
            <a:avLst>
              <a:gd name="adj" fmla="val 8082"/>
            </a:avLst>
          </a:prstGeom>
          <a:solidFill>
            <a:srgbClr val="FFFFFF"/>
          </a:solidFill>
          <a:ln w="6350">
            <a:solidFill>
              <a:srgbClr val="E0DCCF"/>
            </a:solidFill>
            <a:prstDash val="solid"/>
          </a:ln>
        </p:spPr>
      </p:sp>
      <p:sp>
        <p:nvSpPr>
          <p:cNvPr id="11" name="Text 8"/>
          <p:cNvSpPr/>
          <p:nvPr/>
        </p:nvSpPr>
        <p:spPr>
          <a:xfrm>
            <a:off x="7448550" y="3796010"/>
            <a:ext cx="380657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0.000</a:t>
            </a:r>
            <a:endParaRPr lang="en-US" sz="3200" dirty="0"/>
          </a:p>
        </p:txBody>
      </p:sp>
      <p:sp>
        <p:nvSpPr>
          <p:cNvPr id="12" name="Text 9"/>
          <p:cNvSpPr/>
          <p:nvPr/>
        </p:nvSpPr>
        <p:spPr>
          <a:xfrm>
            <a:off x="7448550" y="4403030"/>
            <a:ext cx="38065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Causal: the future is blocked</a:t>
            </a:r>
            <a:endParaRPr lang="en-US" sz="1400" dirty="0"/>
          </a:p>
        </p:txBody>
      </p:sp>
      <p:sp>
        <p:nvSpPr>
          <p:cNvPr id="13" name="Text 10"/>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Multi-head attention and word order</a:t>
            </a:r>
            <a:endParaRPr lang="en-US" sz="3400" dirty="0"/>
          </a:p>
        </p:txBody>
      </p:sp>
      <p:sp>
        <p:nvSpPr>
          <p:cNvPr id="3" name="Shape 1"/>
          <p:cNvSpPr/>
          <p:nvPr/>
        </p:nvSpPr>
        <p:spPr>
          <a:xfrm>
            <a:off x="815975" y="1544935"/>
            <a:ext cx="5175250" cy="2845991"/>
          </a:xfrm>
          <a:prstGeom prst="roundRect">
            <a:avLst>
              <a:gd name="adj" fmla="val 3458"/>
            </a:avLst>
          </a:prstGeom>
          <a:solidFill>
            <a:srgbClr val="FFFFFF"/>
          </a:solidFill>
          <a:ln w="6350">
            <a:solidFill>
              <a:srgbClr val="E0DCCF"/>
            </a:solidFill>
            <a:prstDash val="solid"/>
          </a:ln>
        </p:spPr>
      </p:sp>
      <p:sp>
        <p:nvSpPr>
          <p:cNvPr id="4" name="Text 2"/>
          <p:cNvSpPr/>
          <p:nvPr/>
        </p:nvSpPr>
        <p:spPr>
          <a:xfrm>
            <a:off x="1098550" y="1827510"/>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430"/>
                </a:solidFill>
                <a:latin typeface="Inter" pitchFamily="34" charset="0"/>
                <a:ea typeface="Inter" pitchFamily="34" charset="-122"/>
                <a:cs typeface="Inter" pitchFamily="34" charset="-120"/>
              </a:rPr>
              <a:t>Split, attend, merge</a:t>
            </a:r>
            <a:endParaRPr lang="en-US" sz="1800" dirty="0"/>
          </a:p>
        </p:txBody>
      </p:sp>
      <p:sp>
        <p:nvSpPr>
          <p:cNvPr id="5" name="Text 3"/>
          <p:cNvSpPr/>
          <p:nvPr/>
        </p:nvSpPr>
        <p:spPr>
          <a:xfrm>
            <a:off x="1098550" y="2228751"/>
            <a:ext cx="4748403" cy="12446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x (B, T, 256)</a:t>
            </a:r>
            <a:endParaRPr lang="en-US" sz="1500" dirty="0"/>
          </a:p>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split into 4 heads (B, 4, T, 64)</a:t>
            </a:r>
            <a:endParaRPr lang="en-US" sz="1500" dirty="0"/>
          </a:p>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scores (B, 4, T, T)</a:t>
            </a:r>
            <a:endParaRPr lang="en-US" sz="1500" dirty="0"/>
          </a:p>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merge (B, T, 256) then W_o</a:t>
            </a:r>
            <a:endParaRPr lang="en-US" sz="1500" dirty="0"/>
          </a:p>
        </p:txBody>
      </p:sp>
      <p:sp>
        <p:nvSpPr>
          <p:cNvPr id="6" name="Text 4"/>
          <p:cNvSpPr/>
          <p:nvPr/>
        </p:nvSpPr>
        <p:spPr>
          <a:xfrm>
            <a:off x="1098550" y="3574951"/>
            <a:ext cx="474840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Each head attends in its own 64-dimensional subspace.</a:t>
            </a:r>
            <a:endParaRPr lang="en-US" sz="1500" dirty="0"/>
          </a:p>
        </p:txBody>
      </p:sp>
      <p:sp>
        <p:nvSpPr>
          <p:cNvPr id="7" name="Shape 5"/>
          <p:cNvSpPr/>
          <p:nvPr/>
        </p:nvSpPr>
        <p:spPr>
          <a:xfrm>
            <a:off x="6200775" y="1544935"/>
            <a:ext cx="5175250" cy="2845991"/>
          </a:xfrm>
          <a:prstGeom prst="roundRect">
            <a:avLst>
              <a:gd name="adj" fmla="val 3458"/>
            </a:avLst>
          </a:prstGeom>
          <a:solidFill>
            <a:srgbClr val="FFFFFF"/>
          </a:solidFill>
          <a:ln w="6350">
            <a:solidFill>
              <a:srgbClr val="E0DCCF"/>
            </a:solidFill>
            <a:prstDash val="solid"/>
          </a:ln>
        </p:spPr>
      </p:sp>
      <p:sp>
        <p:nvSpPr>
          <p:cNvPr id="8" name="Text 6"/>
          <p:cNvSpPr/>
          <p:nvPr/>
        </p:nvSpPr>
        <p:spPr>
          <a:xfrm>
            <a:off x="6483350" y="1827510"/>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430"/>
                </a:solidFill>
                <a:latin typeface="Inter" pitchFamily="34" charset="0"/>
                <a:ea typeface="Inter" pitchFamily="34" charset="-122"/>
                <a:cs typeface="Inter" pitchFamily="34" charset="-120"/>
              </a:rPr>
              <a:t>Sinusoidal positions</a:t>
            </a:r>
            <a:endParaRPr lang="en-US" sz="1800" dirty="0"/>
          </a:p>
        </p:txBody>
      </p:sp>
      <p:sp>
        <p:nvSpPr>
          <p:cNvPr id="9" name="Text 7"/>
          <p:cNvSpPr/>
          <p:nvPr/>
        </p:nvSpPr>
        <p:spPr>
          <a:xfrm>
            <a:off x="6483350" y="2228751"/>
            <a:ext cx="474840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PE(pos, 2i) = sin(pos / 10000^(2i/d))</a:t>
            </a:r>
            <a:endParaRPr lang="en-US" sz="1500" dirty="0"/>
          </a:p>
          <a:p>
            <a:pPr algn="l" indent="0" marL="0">
              <a:lnSpc>
                <a:spcPts val="2400"/>
              </a:lnSpc>
              <a:buNone/>
            </a:pPr>
            <a:r>
              <a:rPr lang="en-US" sz="1500" dirty="0">
                <a:solidFill>
                  <a:srgbClr val="1C2430"/>
                </a:solidFill>
                <a:latin typeface="Menlo" pitchFamily="49" charset="0"/>
                <a:ea typeface="Menlo" pitchFamily="49" charset="-122"/>
                <a:cs typeface="Menlo" pitchFamily="49" charset="-120"/>
              </a:rPr>
              <a:t>PE(pos, 2i+1) = cos(pos / 10000^(2i/d))</a:t>
            </a:r>
            <a:endParaRPr lang="en-US" sz="1500" dirty="0"/>
          </a:p>
        </p:txBody>
      </p:sp>
      <p:sp>
        <p:nvSpPr>
          <p:cNvPr id="10" name="Text 8"/>
          <p:cNvSpPr/>
          <p:nvPr/>
        </p:nvSpPr>
        <p:spPr>
          <a:xfrm>
            <a:off x="6483350" y="2965351"/>
            <a:ext cx="474840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Attention alone ignores order. A fixed pattern, with zero parameters, is added to every token embedding.</a:t>
            </a:r>
            <a:endParaRPr lang="en-US" sz="1500" dirty="0"/>
          </a:p>
        </p:txBody>
      </p:sp>
      <p:sp>
        <p:nvSpPr>
          <p:cNvPr id="11" name="Text 9"/>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Training pipeline and debugging gates</a:t>
            </a:r>
            <a:endParaRPr lang="en-US" sz="3400" dirty="0"/>
          </a:p>
        </p:txBody>
      </p:sp>
      <p:sp>
        <p:nvSpPr>
          <p:cNvPr id="3" name="Shape 1"/>
          <p:cNvSpPr/>
          <p:nvPr/>
        </p:nvSpPr>
        <p:spPr>
          <a:xfrm>
            <a:off x="815975" y="1544935"/>
            <a:ext cx="3380284" cy="2756793"/>
          </a:xfrm>
          <a:prstGeom prst="roundRect">
            <a:avLst>
              <a:gd name="adj" fmla="val 3570"/>
            </a:avLst>
          </a:prstGeom>
          <a:solidFill>
            <a:srgbClr val="FFFFFF"/>
          </a:solidFill>
          <a:ln w="6350">
            <a:solidFill>
              <a:srgbClr val="E0DCCF"/>
            </a:solidFill>
            <a:prstDash val="solid"/>
          </a:ln>
        </p:spPr>
      </p:sp>
      <p:sp>
        <p:nvSpPr>
          <p:cNvPr id="4" name="Text 2"/>
          <p:cNvSpPr/>
          <p:nvPr/>
        </p:nvSpPr>
        <p:spPr>
          <a:xfrm>
            <a:off x="1073150" y="180211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Shifted targets</a:t>
            </a:r>
            <a:endParaRPr lang="en-US" sz="1700" dirty="0"/>
          </a:p>
        </p:txBody>
      </p:sp>
      <p:sp>
        <p:nvSpPr>
          <p:cNvPr id="5" name="Text 3"/>
          <p:cNvSpPr/>
          <p:nvPr/>
        </p:nvSpPr>
        <p:spPr>
          <a:xfrm>
            <a:off x="1073150" y="2188170"/>
            <a:ext cx="2951912" cy="759420"/>
          </a:xfrm>
          <a:prstGeom prst="rect">
            <a:avLst/>
          </a:prstGeom>
          <a:noFill/>
          <a:ln/>
        </p:spPr>
        <p:txBody>
          <a:bodyPr wrap="square" lIns="0" tIns="0" rIns="0" bIns="0" rtlCol="0" anchor="t">
            <a:normAutofit/>
          </a:bodyPr>
          <a:lstStyle/>
          <a:p>
            <a:pPr algn="l" indent="0" marL="0">
              <a:lnSpc>
                <a:spcPts val="2890"/>
              </a:lnSpc>
              <a:buNone/>
            </a:pPr>
            <a:r>
              <a:rPr lang="en-US" sz="1700" dirty="0">
                <a:solidFill>
                  <a:srgbClr val="1C2430"/>
                </a:solidFill>
                <a:latin typeface="Menlo" pitchFamily="49" charset="0"/>
                <a:ea typeface="Menlo" pitchFamily="49" charset="-122"/>
                <a:cs typeface="Menlo" pitchFamily="49" charset="-120"/>
              </a:rPr>
              <a:t>input  R O M E O</a:t>
            </a:r>
            <a:endParaRPr lang="en-US" sz="1700" dirty="0"/>
          </a:p>
          <a:p>
            <a:pPr algn="l" indent="0" marL="0">
              <a:lnSpc>
                <a:spcPts val="2890"/>
              </a:lnSpc>
              <a:buNone/>
            </a:pPr>
            <a:r>
              <a:rPr lang="en-US" sz="1700" dirty="0">
                <a:solidFill>
                  <a:srgbClr val="1C2430"/>
                </a:solidFill>
                <a:latin typeface="Menlo" pitchFamily="49" charset="0"/>
                <a:ea typeface="Menlo" pitchFamily="49" charset="-122"/>
                <a:cs typeface="Menlo" pitchFamily="49" charset="-120"/>
              </a:rPr>
              <a:t>target O M E O :</a:t>
            </a:r>
            <a:endParaRPr lang="en-US" sz="1700" dirty="0"/>
          </a:p>
        </p:txBody>
      </p:sp>
      <p:sp>
        <p:nvSpPr>
          <p:cNvPr id="6" name="Text 4"/>
          <p:cNvSpPr/>
          <p:nvPr/>
        </p:nvSpPr>
        <p:spPr>
          <a:xfrm>
            <a:off x="1073150" y="3049191"/>
            <a:ext cx="2951912"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Cross-entropy at every position. AdamW, lr 3e-4 with cosine decay, 5,000 steps, batch 64 x 128.</a:t>
            </a:r>
            <a:endParaRPr lang="en-US" sz="1400" dirty="0"/>
          </a:p>
        </p:txBody>
      </p:sp>
      <p:sp>
        <p:nvSpPr>
          <p:cNvPr id="7" name="Shape 5"/>
          <p:cNvSpPr/>
          <p:nvPr/>
        </p:nvSpPr>
        <p:spPr>
          <a:xfrm>
            <a:off x="4405809" y="1544935"/>
            <a:ext cx="3380383" cy="2756793"/>
          </a:xfrm>
          <a:prstGeom prst="roundRect">
            <a:avLst>
              <a:gd name="adj" fmla="val 3570"/>
            </a:avLst>
          </a:prstGeom>
          <a:solidFill>
            <a:srgbClr val="FFFFFF"/>
          </a:solidFill>
          <a:ln w="6350">
            <a:solidFill>
              <a:srgbClr val="E0DCCF"/>
            </a:solidFill>
            <a:prstDash val="solid"/>
          </a:ln>
        </p:spPr>
      </p:sp>
      <p:sp>
        <p:nvSpPr>
          <p:cNvPr id="8" name="Text 6"/>
          <p:cNvSpPr/>
          <p:nvPr/>
        </p:nvSpPr>
        <p:spPr>
          <a:xfrm>
            <a:off x="4662984" y="1802110"/>
            <a:ext cx="295201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Overfit gate</a:t>
            </a:r>
            <a:endParaRPr lang="en-US" sz="1700" dirty="0"/>
          </a:p>
        </p:txBody>
      </p:sp>
      <p:sp>
        <p:nvSpPr>
          <p:cNvPr id="9" name="Text 7"/>
          <p:cNvSpPr/>
          <p:nvPr/>
        </p:nvSpPr>
        <p:spPr>
          <a:xfrm>
            <a:off x="4662984" y="2150070"/>
            <a:ext cx="295201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4.27 to 0.017</a:t>
            </a:r>
            <a:endParaRPr lang="en-US" sz="3200" dirty="0"/>
          </a:p>
        </p:txBody>
      </p:sp>
      <p:sp>
        <p:nvSpPr>
          <p:cNvPr id="10" name="Text 8"/>
          <p:cNvSpPr/>
          <p:nvPr/>
        </p:nvSpPr>
        <p:spPr>
          <a:xfrm>
            <a:off x="4662984" y="2807891"/>
            <a:ext cx="295201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Loss on a tiny repeated batch within 225 steps. Gradients and target shifting work.</a:t>
            </a:r>
            <a:endParaRPr lang="en-US" sz="1400" dirty="0"/>
          </a:p>
        </p:txBody>
      </p:sp>
      <p:sp>
        <p:nvSpPr>
          <p:cNvPr id="11" name="Shape 9"/>
          <p:cNvSpPr/>
          <p:nvPr/>
        </p:nvSpPr>
        <p:spPr>
          <a:xfrm>
            <a:off x="7995741" y="1544935"/>
            <a:ext cx="3380284" cy="2756793"/>
          </a:xfrm>
          <a:prstGeom prst="roundRect">
            <a:avLst>
              <a:gd name="adj" fmla="val 3570"/>
            </a:avLst>
          </a:prstGeom>
          <a:solidFill>
            <a:srgbClr val="FFFFFF"/>
          </a:solidFill>
          <a:ln w="6350">
            <a:solidFill>
              <a:srgbClr val="E0DCCF"/>
            </a:solidFill>
            <a:prstDash val="solid"/>
          </a:ln>
        </p:spPr>
      </p:sp>
      <p:sp>
        <p:nvSpPr>
          <p:cNvPr id="12" name="Text 10"/>
          <p:cNvSpPr/>
          <p:nvPr/>
        </p:nvSpPr>
        <p:spPr>
          <a:xfrm>
            <a:off x="8252916" y="180211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ter" pitchFamily="34" charset="0"/>
                <a:ea typeface="Inter" pitchFamily="34" charset="-122"/>
                <a:cs typeface="Inter" pitchFamily="34" charset="-120"/>
              </a:rPr>
              <a:t>Unit tests</a:t>
            </a:r>
            <a:endParaRPr lang="en-US" sz="1700" dirty="0"/>
          </a:p>
        </p:txBody>
      </p:sp>
      <p:sp>
        <p:nvSpPr>
          <p:cNvPr id="13" name="Text 11"/>
          <p:cNvSpPr/>
          <p:nvPr/>
        </p:nvSpPr>
        <p:spPr>
          <a:xfrm>
            <a:off x="8252916" y="2150070"/>
            <a:ext cx="295191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21 of 21</a:t>
            </a:r>
            <a:endParaRPr lang="en-US" sz="3200" dirty="0"/>
          </a:p>
        </p:txBody>
      </p:sp>
      <p:sp>
        <p:nvSpPr>
          <p:cNvPr id="14" name="Text 12"/>
          <p:cNvSpPr/>
          <p:nvPr/>
        </p:nvSpPr>
        <p:spPr>
          <a:xfrm>
            <a:off x="8252916" y="28078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Pass, including: future tokens never change earlier logits.</a:t>
            </a:r>
            <a:endParaRPr lang="en-US" sz="1400" dirty="0"/>
          </a:p>
        </p:txBody>
      </p:sp>
      <p:sp>
        <p:nvSpPr>
          <p:cNvPr id="15" name="Text 13"/>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Learning curve: train 1.28, validation 1.51</a:t>
            </a:r>
            <a:endParaRPr lang="en-US" sz="3400" dirty="0"/>
          </a:p>
        </p:txBody>
      </p:sp>
      <p:sp>
        <p:nvSpPr>
          <p:cNvPr id="3" name="Shape 1"/>
          <p:cNvSpPr/>
          <p:nvPr/>
        </p:nvSpPr>
        <p:spPr>
          <a:xfrm>
            <a:off x="812800" y="1572022"/>
            <a:ext cx="6096000" cy="4064000"/>
          </a:xfrm>
          <a:prstGeom prst="roundRect">
            <a:avLst>
              <a:gd name="adj" fmla="val 2500"/>
            </a:avLst>
          </a:prstGeom>
          <a:solidFill>
            <a:srgbClr val="FFFFFF"/>
          </a:solidFill>
          <a:ln/>
        </p:spPr>
      </p:sp>
      <p:pic>
        <p:nvPicPr>
          <p:cNvPr id="4" name="Image 0" descr="Training and validation loss over 5000 steps, both falling from about 4.3 to 1.28 and 1.51">    </p:cNvPr>
          <p:cNvPicPr>
            <a:picLocks noChangeAspect="1"/>
          </p:cNvPicPr>
          <p:nvPr/>
        </p:nvPicPr>
        <p:blipFill>
          <a:blip r:embed="rId1"/>
          <a:srcRect l="-52" r="-52" t="0" b="0"/>
          <a:stretch/>
        </p:blipFill>
        <p:spPr>
          <a:xfrm>
            <a:off x="819150" y="1578372"/>
            <a:ext cx="6083300" cy="4051300"/>
          </a:xfrm>
          <a:prstGeom prst="roundRect">
            <a:avLst>
              <a:gd name="adj" fmla="val 2351"/>
            </a:avLst>
          </a:prstGeom>
        </p:spPr>
      </p:pic>
      <p:sp>
        <p:nvSpPr>
          <p:cNvPr id="5" name="Shape 2"/>
          <p:cNvSpPr/>
          <p:nvPr/>
        </p:nvSpPr>
        <p:spPr>
          <a:xfrm>
            <a:off x="815975" y="1575197"/>
            <a:ext cx="6089650" cy="4057650"/>
          </a:xfrm>
          <a:prstGeom prst="roundRect">
            <a:avLst>
              <a:gd name="adj" fmla="val 2426"/>
            </a:avLst>
          </a:prstGeom>
          <a:noFill/>
          <a:ln w="6350">
            <a:solidFill>
              <a:srgbClr val="E0DCCF"/>
            </a:solidFill>
            <a:prstDash val="solid"/>
          </a:ln>
        </p:spPr>
      </p:sp>
      <p:sp>
        <p:nvSpPr>
          <p:cNvPr id="6" name="Shape 3"/>
          <p:cNvSpPr/>
          <p:nvPr/>
        </p:nvSpPr>
        <p:spPr>
          <a:xfrm>
            <a:off x="7216775" y="1519535"/>
            <a:ext cx="4159250" cy="1217811"/>
          </a:xfrm>
          <a:prstGeom prst="roundRect">
            <a:avLst>
              <a:gd name="adj" fmla="val 8082"/>
            </a:avLst>
          </a:prstGeom>
          <a:solidFill>
            <a:srgbClr val="FFFFFF"/>
          </a:solidFill>
          <a:ln w="6350">
            <a:solidFill>
              <a:srgbClr val="E0DCCF"/>
            </a:solidFill>
            <a:prstDash val="solid"/>
          </a:ln>
        </p:spPr>
      </p:sp>
      <p:sp>
        <p:nvSpPr>
          <p:cNvPr id="7" name="Text 4"/>
          <p:cNvSpPr/>
          <p:nvPr/>
        </p:nvSpPr>
        <p:spPr>
          <a:xfrm>
            <a:off x="7448550" y="1700510"/>
            <a:ext cx="380657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4.51</a:t>
            </a:r>
            <a:endParaRPr lang="en-US" sz="3200" dirty="0"/>
          </a:p>
        </p:txBody>
      </p:sp>
      <p:sp>
        <p:nvSpPr>
          <p:cNvPr id="8" name="Text 5"/>
          <p:cNvSpPr/>
          <p:nvPr/>
        </p:nvSpPr>
        <p:spPr>
          <a:xfrm>
            <a:off x="7448550" y="2307530"/>
            <a:ext cx="38065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Validation perplexity, out of 65 characters</a:t>
            </a:r>
            <a:endParaRPr lang="en-US" sz="1400" dirty="0"/>
          </a:p>
        </p:txBody>
      </p:sp>
      <p:sp>
        <p:nvSpPr>
          <p:cNvPr id="9" name="Shape 6"/>
          <p:cNvSpPr/>
          <p:nvPr/>
        </p:nvSpPr>
        <p:spPr>
          <a:xfrm>
            <a:off x="7216775" y="2870696"/>
            <a:ext cx="4159250" cy="1217811"/>
          </a:xfrm>
          <a:prstGeom prst="roundRect">
            <a:avLst>
              <a:gd name="adj" fmla="val 8082"/>
            </a:avLst>
          </a:prstGeom>
          <a:solidFill>
            <a:srgbClr val="FFFFFF"/>
          </a:solidFill>
          <a:ln w="6350">
            <a:solidFill>
              <a:srgbClr val="E0DCCF"/>
            </a:solidFill>
            <a:prstDash val="solid"/>
          </a:ln>
        </p:spPr>
      </p:sp>
      <p:sp>
        <p:nvSpPr>
          <p:cNvPr id="10" name="Text 7"/>
          <p:cNvSpPr/>
          <p:nvPr/>
        </p:nvSpPr>
        <p:spPr>
          <a:xfrm>
            <a:off x="7448550" y="3051671"/>
            <a:ext cx="380657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E7C7B"/>
                </a:solidFill>
                <a:latin typeface="Source Serif 4" pitchFamily="18" charset="0"/>
                <a:ea typeface="Source Serif 4" pitchFamily="18" charset="-122"/>
                <a:cs typeface="Source Serif 4" pitchFamily="18" charset="-120"/>
              </a:rPr>
              <a:t>7.6 min</a:t>
            </a:r>
            <a:endParaRPr lang="en-US" sz="3200" dirty="0"/>
          </a:p>
        </p:txBody>
      </p:sp>
      <p:sp>
        <p:nvSpPr>
          <p:cNvPr id="11" name="Text 8"/>
          <p:cNvSpPr/>
          <p:nvPr/>
        </p:nvSpPr>
        <p:spPr>
          <a:xfrm>
            <a:off x="7448550" y="3658691"/>
            <a:ext cx="38065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5,000 steps on a Colab T4 (455 s)</a:t>
            </a:r>
            <a:endParaRPr lang="en-US" sz="1400" dirty="0"/>
          </a:p>
        </p:txBody>
      </p:sp>
      <p:sp>
        <p:nvSpPr>
          <p:cNvPr id="12" name="Shape 9"/>
          <p:cNvSpPr/>
          <p:nvPr/>
        </p:nvSpPr>
        <p:spPr>
          <a:xfrm>
            <a:off x="7216775" y="4221857"/>
            <a:ext cx="4159250" cy="1466652"/>
          </a:xfrm>
          <a:prstGeom prst="roundRect">
            <a:avLst>
              <a:gd name="adj" fmla="val 6711"/>
            </a:avLst>
          </a:prstGeom>
          <a:solidFill>
            <a:srgbClr val="FFFFFF"/>
          </a:solidFill>
          <a:ln w="6350">
            <a:solidFill>
              <a:srgbClr val="E0DCCF"/>
            </a:solidFill>
            <a:prstDash val="solid"/>
          </a:ln>
        </p:spPr>
      </p:sp>
      <p:sp>
        <p:nvSpPr>
          <p:cNvPr id="13" name="Text 10"/>
          <p:cNvSpPr/>
          <p:nvPr/>
        </p:nvSpPr>
        <p:spPr>
          <a:xfrm>
            <a:off x="7448550" y="4402832"/>
            <a:ext cx="380657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A85410"/>
                </a:solidFill>
                <a:latin typeface="Source Serif 4" pitchFamily="18" charset="0"/>
                <a:ea typeface="Source Serif 4" pitchFamily="18" charset="-122"/>
                <a:cs typeface="Source Serif 4" pitchFamily="18" charset="-120"/>
              </a:rPr>
              <a:t>0.22</a:t>
            </a:r>
            <a:endParaRPr lang="en-US" sz="3200" dirty="0"/>
          </a:p>
        </p:txBody>
      </p:sp>
      <p:sp>
        <p:nvSpPr>
          <p:cNvPr id="14" name="Text 11"/>
          <p:cNvSpPr/>
          <p:nvPr/>
        </p:nvSpPr>
        <p:spPr>
          <a:xfrm>
            <a:off x="7448550" y="5009852"/>
            <a:ext cx="380657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2"/>
                </a:solidFill>
                <a:latin typeface="Inter" pitchFamily="34" charset="0"/>
                <a:ea typeface="Inter" pitchFamily="34" charset="-122"/>
                <a:cs typeface="Inter" pitchFamily="34" charset="-120"/>
              </a:rPr>
              <a:t>Train-validation gap after about 40 passes over 1 MB</a:t>
            </a:r>
            <a:endParaRPr lang="en-US" sz="1400" dirty="0"/>
          </a:p>
        </p:txBody>
      </p:sp>
      <p:sp>
        <p:nvSpPr>
          <p:cNvPr id="15" name="Text 12"/>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826"/>
        </a:solidFill>
      </p:bgPr>
    </p:bg>
    <p:spTree>
      <p:nvGrpSpPr>
        <p:cNvPr id="1" name=""/>
        <p:cNvGrpSpPr/>
        <p:nvPr/>
      </p:nvGrpSpPr>
      <p:grpSpPr>
        <a:xfrm>
          <a:off x="0" y="0"/>
          <a:ext cx="0" cy="0"/>
          <a:chOff x="0" y="0"/>
          <a:chExt cx="0" cy="0"/>
        </a:xfrm>
      </p:grpSpPr>
      <p:sp>
        <p:nvSpPr>
          <p:cNvPr id="2" name="Text 0"/>
          <p:cNvSpPr/>
          <p:nvPr/>
        </p:nvSpPr>
        <p:spPr>
          <a:xfrm>
            <a:off x="812800" y="17729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FD0C8"/>
                </a:solidFill>
                <a:latin typeface="Inter" pitchFamily="34" charset="0"/>
                <a:ea typeface="Inter" pitchFamily="34" charset="-122"/>
                <a:cs typeface="Inter" pitchFamily="34" charset="-120"/>
              </a:rPr>
              <a:t>GENERATED TEXT · prompt "ROMEO:" · temperature 0.8, top-k 40</a:t>
            </a:r>
            <a:endParaRPr lang="en-US" sz="1500" dirty="0"/>
          </a:p>
        </p:txBody>
      </p:sp>
      <p:sp>
        <p:nvSpPr>
          <p:cNvPr id="3" name="Text 1"/>
          <p:cNvSpPr/>
          <p:nvPr/>
        </p:nvSpPr>
        <p:spPr>
          <a:xfrm>
            <a:off x="812800" y="2344440"/>
            <a:ext cx="10883392" cy="1569641"/>
          </a:xfrm>
          <a:prstGeom prst="rect">
            <a:avLst/>
          </a:prstGeom>
          <a:noFill/>
          <a:ln/>
        </p:spPr>
        <p:txBody>
          <a:bodyPr wrap="square" lIns="0" tIns="0" rIns="0" bIns="0" rtlCol="0" anchor="t">
            <a:normAutofit/>
          </a:bodyPr>
          <a:lstStyle/>
          <a:p>
            <a:pPr algn="l" indent="0" marL="0">
              <a:lnSpc>
                <a:spcPts val="3040"/>
              </a:lnSpc>
              <a:buNone/>
            </a:pPr>
            <a:r>
              <a:rPr lang="en-US" sz="1900" dirty="0">
                <a:solidFill>
                  <a:srgbClr val="F3EFE6"/>
                </a:solidFill>
                <a:latin typeface="Menlo" pitchFamily="49" charset="0"/>
                <a:ea typeface="Menlo" pitchFamily="49" charset="-122"/>
                <a:cs typeface="Menlo" pitchFamily="49" charset="-120"/>
              </a:rPr>
              <a:t>ROMEO:</a:t>
            </a:r>
            <a:endParaRPr lang="en-US" sz="1900" dirty="0"/>
          </a:p>
          <a:p>
            <a:pPr algn="l" indent="0" marL="0">
              <a:lnSpc>
                <a:spcPts val="3040"/>
              </a:lnSpc>
              <a:buNone/>
            </a:pPr>
            <a:r>
              <a:rPr lang="en-US" sz="1900" dirty="0">
                <a:solidFill>
                  <a:srgbClr val="F3EFE6"/>
                </a:solidFill>
                <a:latin typeface="Menlo" pitchFamily="49" charset="0"/>
                <a:ea typeface="Menlo" pitchFamily="49" charset="-122"/>
                <a:cs typeface="Menlo" pitchFamily="49" charset="-120"/>
              </a:rPr>
              <a:t>Whose stirs stayes presently may and one private to be</a:t>
            </a:r>
            <a:endParaRPr lang="en-US" sz="1900" dirty="0"/>
          </a:p>
          <a:p>
            <a:pPr algn="l" indent="0" marL="0">
              <a:lnSpc>
                <a:spcPts val="3040"/>
              </a:lnSpc>
              <a:buNone/>
            </a:pPr>
            <a:r>
              <a:rPr lang="en-US" sz="1900" dirty="0">
                <a:solidFill>
                  <a:srgbClr val="F3EFE6"/>
                </a:solidFill>
                <a:latin typeface="Menlo" pitchFamily="49" charset="0"/>
                <a:ea typeface="Menlo" pitchFamily="49" charset="-122"/>
                <a:cs typeface="Menlo" pitchFamily="49" charset="-120"/>
              </a:rPr>
              <a:t>my death; but thou dost right known such before:</a:t>
            </a:r>
            <a:endParaRPr lang="en-US" sz="1900" dirty="0"/>
          </a:p>
          <a:p>
            <a:pPr algn="l" indent="0" marL="0">
              <a:lnSpc>
                <a:spcPts val="3040"/>
              </a:lnSpc>
              <a:buNone/>
            </a:pPr>
            <a:r>
              <a:rPr lang="en-US" sz="1900" dirty="0">
                <a:solidFill>
                  <a:srgbClr val="F3EFE6"/>
                </a:solidFill>
                <a:latin typeface="Menlo" pitchFamily="49" charset="0"/>
                <a:ea typeface="Menlo" pitchFamily="49" charset="-122"/>
                <a:cs typeface="Menlo" pitchFamily="49" charset="-120"/>
              </a:rPr>
              <a:t>Ancient that I can in love that must the mine.</a:t>
            </a:r>
            <a:endParaRPr lang="en-US" sz="1900" dirty="0"/>
          </a:p>
        </p:txBody>
      </p:sp>
      <p:sp>
        <p:nvSpPr>
          <p:cNvPr id="4" name="Text 2"/>
          <p:cNvSpPr/>
          <p:nvPr/>
        </p:nvSpPr>
        <p:spPr>
          <a:xfrm>
            <a:off x="812800" y="4193480"/>
            <a:ext cx="528472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D0C8"/>
                </a:solidFill>
                <a:latin typeface="Inter" pitchFamily="34" charset="0"/>
                <a:ea typeface="Inter" pitchFamily="34" charset="-122"/>
                <a:cs typeface="Inter" pitchFamily="34" charset="-120"/>
              </a:rPr>
              <a:t>Learned</a:t>
            </a:r>
            <a:endParaRPr lang="en-US" sz="1700" dirty="0"/>
          </a:p>
        </p:txBody>
      </p:sp>
      <p:sp>
        <p:nvSpPr>
          <p:cNvPr id="5" name="Text 3"/>
          <p:cNvSpPr/>
          <p:nvPr/>
        </p:nvSpPr>
        <p:spPr>
          <a:xfrm>
            <a:off x="812800" y="4516041"/>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AB4C3"/>
                </a:solidFill>
                <a:latin typeface="Inter" pitchFamily="34" charset="0"/>
                <a:ea typeface="Inter" pitchFamily="34" charset="-122"/>
                <a:cs typeface="Inter" pitchFamily="34" charset="-120"/>
              </a:rPr>
              <a:t>Speaker labels, line breaks, archaic words, mostly correct spelling.</a:t>
            </a:r>
            <a:endParaRPr lang="en-US" sz="1600" dirty="0"/>
          </a:p>
        </p:txBody>
      </p:sp>
      <p:sp>
        <p:nvSpPr>
          <p:cNvPr id="6" name="Text 4"/>
          <p:cNvSpPr/>
          <p:nvPr/>
        </p:nvSpPr>
        <p:spPr>
          <a:xfrm>
            <a:off x="6248400" y="4193480"/>
            <a:ext cx="528472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35A"/>
                </a:solidFill>
                <a:latin typeface="Inter" pitchFamily="34" charset="0"/>
                <a:ea typeface="Inter" pitchFamily="34" charset="-122"/>
                <a:cs typeface="Inter" pitchFamily="34" charset="-120"/>
              </a:rPr>
              <a:t>Not learned</a:t>
            </a:r>
            <a:endParaRPr lang="en-US" sz="1700" dirty="0"/>
          </a:p>
        </p:txBody>
      </p:sp>
      <p:sp>
        <p:nvSpPr>
          <p:cNvPr id="7" name="Text 5"/>
          <p:cNvSpPr/>
          <p:nvPr/>
        </p:nvSpPr>
        <p:spPr>
          <a:xfrm>
            <a:off x="6248400" y="4516041"/>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AB4C3"/>
                </a:solidFill>
                <a:latin typeface="Inter" pitchFamily="34" charset="0"/>
                <a:ea typeface="Inter" pitchFamily="34" charset="-122"/>
                <a:cs typeface="Inter" pitchFamily="34" charset="-120"/>
              </a:rPr>
              <a:t>Meaning. It invents words such as "orason" and "kedgess".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Inside the trained model: last-layer attention</a:t>
            </a:r>
            <a:endParaRPr lang="en-US" sz="3400" dirty="0"/>
          </a:p>
        </p:txBody>
      </p:sp>
      <p:sp>
        <p:nvSpPr>
          <p:cNvPr id="3" name="Shape 1"/>
          <p:cNvSpPr/>
          <p:nvPr/>
        </p:nvSpPr>
        <p:spPr>
          <a:xfrm>
            <a:off x="812800" y="1490960"/>
            <a:ext cx="10566400" cy="2641600"/>
          </a:xfrm>
          <a:prstGeom prst="roundRect">
            <a:avLst>
              <a:gd name="adj" fmla="val 3846"/>
            </a:avLst>
          </a:prstGeom>
          <a:solidFill>
            <a:srgbClr val="FFFFFF"/>
          </a:solidFill>
          <a:ln/>
        </p:spPr>
      </p:sp>
      <p:pic>
        <p:nvPicPr>
          <p:cNvPr id="4" name="Image 0" descr="Attention heatmaps for the four heads of layer 3 on the prompt ROMEO: O, she doth teach the torches; all are lower triangular">    </p:cNvPr>
          <p:cNvPicPr>
            <a:picLocks noChangeAspect="1"/>
          </p:cNvPicPr>
          <p:nvPr/>
        </p:nvPicPr>
        <p:blipFill>
          <a:blip r:embed="rId1"/>
          <a:srcRect l="-181" r="-181" t="0" b="0"/>
          <a:stretch/>
        </p:blipFill>
        <p:spPr>
          <a:xfrm>
            <a:off x="819150" y="1497310"/>
            <a:ext cx="10553700" cy="2628900"/>
          </a:xfrm>
          <a:prstGeom prst="roundRect">
            <a:avLst>
              <a:gd name="adj" fmla="val 3623"/>
            </a:avLst>
          </a:prstGeom>
        </p:spPr>
      </p:pic>
      <p:sp>
        <p:nvSpPr>
          <p:cNvPr id="5" name="Shape 2"/>
          <p:cNvSpPr/>
          <p:nvPr/>
        </p:nvSpPr>
        <p:spPr>
          <a:xfrm>
            <a:off x="815975" y="1494135"/>
            <a:ext cx="10560050" cy="2635250"/>
          </a:xfrm>
          <a:prstGeom prst="roundRect">
            <a:avLst>
              <a:gd name="adj" fmla="val 3735"/>
            </a:avLst>
          </a:prstGeom>
          <a:noFill/>
          <a:ln w="6350">
            <a:solidFill>
              <a:srgbClr val="E0DCCF"/>
            </a:solidFill>
            <a:prstDash val="solid"/>
          </a:ln>
        </p:spPr>
      </p:sp>
      <p:sp>
        <p:nvSpPr>
          <p:cNvPr id="6" name="Shape 3"/>
          <p:cNvSpPr/>
          <p:nvPr/>
        </p:nvSpPr>
        <p:spPr>
          <a:xfrm>
            <a:off x="815975" y="4338935"/>
            <a:ext cx="3397250" cy="1376561"/>
          </a:xfrm>
          <a:prstGeom prst="roundRect">
            <a:avLst>
              <a:gd name="adj" fmla="val 7150"/>
            </a:avLst>
          </a:prstGeom>
          <a:solidFill>
            <a:srgbClr val="FFFFFF"/>
          </a:solidFill>
          <a:ln w="6350">
            <a:solidFill>
              <a:srgbClr val="E0DCCF"/>
            </a:solidFill>
            <a:prstDash val="solid"/>
          </a:ln>
        </p:spPr>
      </p:sp>
      <p:sp>
        <p:nvSpPr>
          <p:cNvPr id="7" name="Text 4"/>
          <p:cNvSpPr/>
          <p:nvPr/>
        </p:nvSpPr>
        <p:spPr>
          <a:xfrm>
            <a:off x="1022350" y="4519910"/>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7B"/>
                </a:solidFill>
                <a:latin typeface="Inter" pitchFamily="34" charset="0"/>
                <a:ea typeface="Inter" pitchFamily="34" charset="-122"/>
                <a:cs typeface="Inter" pitchFamily="34" charset="-120"/>
              </a:rPr>
              <a:t>Lower-triangular</a:t>
            </a:r>
            <a:endParaRPr lang="en-US" sz="1600" dirty="0"/>
          </a:p>
        </p:txBody>
      </p:sp>
      <p:sp>
        <p:nvSpPr>
          <p:cNvPr id="8" name="Text 5"/>
          <p:cNvSpPr/>
          <p:nvPr/>
        </p:nvSpPr>
        <p:spPr>
          <a:xfrm>
            <a:off x="1022350" y="4814491"/>
            <a:ext cx="30740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452"/>
                </a:solidFill>
                <a:latin typeface="Inter" pitchFamily="34" charset="0"/>
                <a:ea typeface="Inter" pitchFamily="34" charset="-122"/>
                <a:cs typeface="Inter" pitchFamily="34" charset="-120"/>
              </a:rPr>
              <a:t>The causal mask holds in every head.</a:t>
            </a:r>
            <a:endParaRPr lang="en-US" sz="1400" dirty="0"/>
          </a:p>
        </p:txBody>
      </p:sp>
      <p:sp>
        <p:nvSpPr>
          <p:cNvPr id="9" name="Shape 6"/>
          <p:cNvSpPr/>
          <p:nvPr/>
        </p:nvSpPr>
        <p:spPr>
          <a:xfrm>
            <a:off x="4397375" y="4338935"/>
            <a:ext cx="3397250" cy="1376561"/>
          </a:xfrm>
          <a:prstGeom prst="roundRect">
            <a:avLst>
              <a:gd name="adj" fmla="val 7150"/>
            </a:avLst>
          </a:prstGeom>
          <a:solidFill>
            <a:srgbClr val="FFFFFF"/>
          </a:solidFill>
          <a:ln w="6350">
            <a:solidFill>
              <a:srgbClr val="E0DCCF"/>
            </a:solidFill>
            <a:prstDash val="solid"/>
          </a:ln>
        </p:spPr>
      </p:sp>
      <p:sp>
        <p:nvSpPr>
          <p:cNvPr id="10" name="Text 7"/>
          <p:cNvSpPr/>
          <p:nvPr/>
        </p:nvSpPr>
        <p:spPr>
          <a:xfrm>
            <a:off x="4603750" y="4519910"/>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7B"/>
                </a:solidFill>
                <a:latin typeface="Inter" pitchFamily="34" charset="0"/>
                <a:ea typeface="Inter" pitchFamily="34" charset="-122"/>
                <a:cs typeface="Inter" pitchFamily="34" charset="-120"/>
              </a:rPr>
              <a:t>Diagonal bands</a:t>
            </a:r>
            <a:endParaRPr lang="en-US" sz="1600" dirty="0"/>
          </a:p>
        </p:txBody>
      </p:sp>
      <p:sp>
        <p:nvSpPr>
          <p:cNvPr id="11" name="Text 8"/>
          <p:cNvSpPr/>
          <p:nvPr/>
        </p:nvSpPr>
        <p:spPr>
          <a:xfrm>
            <a:off x="4603750" y="4814491"/>
            <a:ext cx="30740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452"/>
                </a:solidFill>
                <a:latin typeface="Inter" pitchFamily="34" charset="0"/>
                <a:ea typeface="Inter" pitchFamily="34" charset="-122"/>
                <a:cs typeface="Inter" pitchFamily="34" charset="-120"/>
              </a:rPr>
              <a:t>Heads read the previous few characters.</a:t>
            </a:r>
            <a:endParaRPr lang="en-US" sz="1400" dirty="0"/>
          </a:p>
        </p:txBody>
      </p:sp>
      <p:sp>
        <p:nvSpPr>
          <p:cNvPr id="12" name="Shape 9"/>
          <p:cNvSpPr/>
          <p:nvPr/>
        </p:nvSpPr>
        <p:spPr>
          <a:xfrm>
            <a:off x="7978775" y="4338935"/>
            <a:ext cx="3397250" cy="1376561"/>
          </a:xfrm>
          <a:prstGeom prst="roundRect">
            <a:avLst>
              <a:gd name="adj" fmla="val 7150"/>
            </a:avLst>
          </a:prstGeom>
          <a:solidFill>
            <a:srgbClr val="FFFFFF"/>
          </a:solidFill>
          <a:ln w="6350">
            <a:solidFill>
              <a:srgbClr val="E0DCCF"/>
            </a:solidFill>
            <a:prstDash val="solid"/>
          </a:ln>
        </p:spPr>
      </p:sp>
      <p:sp>
        <p:nvSpPr>
          <p:cNvPr id="13" name="Text 10"/>
          <p:cNvSpPr/>
          <p:nvPr/>
        </p:nvSpPr>
        <p:spPr>
          <a:xfrm>
            <a:off x="8185150" y="4519910"/>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410"/>
                </a:solidFill>
                <a:latin typeface="Inter" pitchFamily="34" charset="0"/>
                <a:ea typeface="Inter" pitchFamily="34" charset="-122"/>
                <a:cs typeface="Inter" pitchFamily="34" charset="-120"/>
              </a:rPr>
              <a:t>Bright columns</a:t>
            </a:r>
            <a:endParaRPr lang="en-US" sz="1600" dirty="0"/>
          </a:p>
        </p:txBody>
      </p:sp>
      <p:sp>
        <p:nvSpPr>
          <p:cNvPr id="14" name="Text 11"/>
          <p:cNvSpPr/>
          <p:nvPr/>
        </p:nvSpPr>
        <p:spPr>
          <a:xfrm>
            <a:off x="8185150" y="4814491"/>
            <a:ext cx="3074035"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452"/>
                </a:solidFill>
                <a:latin typeface="Inter" pitchFamily="34" charset="0"/>
                <a:ea typeface="Inter" pitchFamily="34" charset="-122"/>
                <a:cs typeface="Inter" pitchFamily="34" charset="-120"/>
              </a:rPr>
              <a:t>Weight on the first characters and word starts. A hypothesis, not tested.</a:t>
            </a:r>
            <a:endParaRPr lang="en-US" sz="1400" dirty="0"/>
          </a:p>
        </p:txBody>
      </p:sp>
      <p:sp>
        <p:nvSpPr>
          <p:cNvPr id="15" name="Text 12"/>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Ablations: one factor at a time</a:t>
            </a:r>
            <a:endParaRPr lang="en-US" sz="3400" dirty="0"/>
          </a:p>
        </p:txBody>
      </p:sp>
      <p:sp>
        <p:nvSpPr>
          <p:cNvPr id="3" name="Shape 1"/>
          <p:cNvSpPr/>
          <p:nvPr/>
        </p:nvSpPr>
        <p:spPr>
          <a:xfrm>
            <a:off x="812800" y="1516360"/>
            <a:ext cx="6604000" cy="3302000"/>
          </a:xfrm>
          <a:prstGeom prst="roundRect">
            <a:avLst>
              <a:gd name="adj" fmla="val 3077"/>
            </a:avLst>
          </a:prstGeom>
          <a:solidFill>
            <a:srgbClr val="FFFFFF"/>
          </a:solidFill>
          <a:ln/>
        </p:spPr>
      </p:sp>
      <p:pic>
        <p:nvPicPr>
          <p:cNvPr id="4" name="Image 0" descr="Ablation table: depth 2, 4, 6; heads 2, 4, 8; context 64, 128, 256 with parameters, losses, perplexity, time and memory">    </p:cNvPr>
          <p:cNvPicPr>
            <a:picLocks noChangeAspect="1"/>
          </p:cNvPicPr>
          <p:nvPr/>
        </p:nvPicPr>
        <p:blipFill>
          <a:blip r:embed="rId1"/>
          <a:stretch>
            <a:fillRect/>
          </a:stretch>
        </p:blipFill>
        <p:spPr>
          <a:xfrm>
            <a:off x="939020" y="1522710"/>
            <a:ext cx="6351561" cy="3289300"/>
          </a:xfrm>
          <a:prstGeom prst="rect">
            <a:avLst/>
          </a:prstGeom>
        </p:spPr>
      </p:pic>
      <p:sp>
        <p:nvSpPr>
          <p:cNvPr id="5" name="Shape 2"/>
          <p:cNvSpPr/>
          <p:nvPr/>
        </p:nvSpPr>
        <p:spPr>
          <a:xfrm>
            <a:off x="815975" y="1519535"/>
            <a:ext cx="6597650" cy="3295650"/>
          </a:xfrm>
          <a:prstGeom prst="roundRect">
            <a:avLst>
              <a:gd name="adj" fmla="val 2987"/>
            </a:avLst>
          </a:prstGeom>
          <a:noFill/>
          <a:ln w="6350">
            <a:solidFill>
              <a:srgbClr val="E0DCCF"/>
            </a:solidFill>
            <a:prstDash val="solid"/>
          </a:ln>
        </p:spPr>
      </p:sp>
      <p:sp>
        <p:nvSpPr>
          <p:cNvPr id="6" name="Shape 3"/>
          <p:cNvSpPr/>
          <p:nvPr/>
        </p:nvSpPr>
        <p:spPr>
          <a:xfrm>
            <a:off x="7673975" y="1622822"/>
            <a:ext cx="3702050" cy="1023541"/>
          </a:xfrm>
          <a:prstGeom prst="roundRect">
            <a:avLst>
              <a:gd name="adj" fmla="val 9616"/>
            </a:avLst>
          </a:prstGeom>
          <a:solidFill>
            <a:srgbClr val="FFFFFF"/>
          </a:solidFill>
          <a:ln w="6350">
            <a:solidFill>
              <a:srgbClr val="E0DCCF"/>
            </a:solidFill>
            <a:prstDash val="solid"/>
          </a:ln>
        </p:spPr>
      </p:sp>
      <p:sp>
        <p:nvSpPr>
          <p:cNvPr id="7" name="Text 4"/>
          <p:cNvSpPr/>
          <p:nvPr/>
        </p:nvSpPr>
        <p:spPr>
          <a:xfrm>
            <a:off x="7867650" y="1778397"/>
            <a:ext cx="34141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7C7B"/>
                </a:solidFill>
                <a:latin typeface="Inter" pitchFamily="34" charset="0"/>
                <a:ea typeface="Inter" pitchFamily="34" charset="-122"/>
                <a:cs typeface="Inter" pitchFamily="34" charset="-120"/>
              </a:rPr>
              <a:t>Depth</a:t>
            </a:r>
            <a:endParaRPr lang="en-US" sz="1500" dirty="0"/>
          </a:p>
        </p:txBody>
      </p:sp>
      <p:sp>
        <p:nvSpPr>
          <p:cNvPr id="8" name="Text 5"/>
          <p:cNvSpPr/>
          <p:nvPr/>
        </p:nvSpPr>
        <p:spPr>
          <a:xfrm>
            <a:off x="7867650" y="2045097"/>
            <a:ext cx="34141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452"/>
                </a:solidFill>
                <a:latin typeface="Inter" pitchFamily="34" charset="0"/>
                <a:ea typeface="Inter" pitchFamily="34" charset="-122"/>
                <a:cs typeface="Inter" pitchFamily="34" charset="-120"/>
              </a:rPr>
              <a:t>Val loss 1.82, 1.72, 1.68. Diminishing returns.</a:t>
            </a:r>
            <a:endParaRPr lang="en-US" sz="1300" dirty="0"/>
          </a:p>
        </p:txBody>
      </p:sp>
      <p:sp>
        <p:nvSpPr>
          <p:cNvPr id="9" name="Shape 6"/>
          <p:cNvSpPr/>
          <p:nvPr/>
        </p:nvSpPr>
        <p:spPr>
          <a:xfrm>
            <a:off x="7673975" y="2767013"/>
            <a:ext cx="3702050" cy="800695"/>
          </a:xfrm>
          <a:prstGeom prst="roundRect">
            <a:avLst>
              <a:gd name="adj" fmla="val 12292"/>
            </a:avLst>
          </a:prstGeom>
          <a:solidFill>
            <a:srgbClr val="FFFFFF"/>
          </a:solidFill>
          <a:ln w="6350">
            <a:solidFill>
              <a:srgbClr val="E0DCCF"/>
            </a:solidFill>
            <a:prstDash val="solid"/>
          </a:ln>
        </p:spPr>
      </p:sp>
      <p:sp>
        <p:nvSpPr>
          <p:cNvPr id="10" name="Text 7"/>
          <p:cNvSpPr/>
          <p:nvPr/>
        </p:nvSpPr>
        <p:spPr>
          <a:xfrm>
            <a:off x="7867650" y="2922588"/>
            <a:ext cx="34141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7C7B"/>
                </a:solidFill>
                <a:latin typeface="Inter" pitchFamily="34" charset="0"/>
                <a:ea typeface="Inter" pitchFamily="34" charset="-122"/>
                <a:cs typeface="Inter" pitchFamily="34" charset="-120"/>
              </a:rPr>
              <a:t>Heads</a:t>
            </a:r>
            <a:endParaRPr lang="en-US" sz="1500" dirty="0"/>
          </a:p>
        </p:txBody>
      </p:sp>
      <p:sp>
        <p:nvSpPr>
          <p:cNvPr id="11" name="Text 8"/>
          <p:cNvSpPr/>
          <p:nvPr/>
        </p:nvSpPr>
        <p:spPr>
          <a:xfrm>
            <a:off x="7867650" y="3189288"/>
            <a:ext cx="341414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452"/>
                </a:solidFill>
                <a:latin typeface="Inter" pitchFamily="34" charset="0"/>
                <a:ea typeface="Inter" pitchFamily="34" charset="-122"/>
                <a:cs typeface="Inter" pitchFamily="34" charset="-120"/>
              </a:rPr>
              <a:t>No clear effect: within 0.011, single seed.</a:t>
            </a:r>
            <a:endParaRPr lang="en-US" sz="1300" dirty="0"/>
          </a:p>
        </p:txBody>
      </p:sp>
      <p:sp>
        <p:nvSpPr>
          <p:cNvPr id="12" name="Shape 9"/>
          <p:cNvSpPr/>
          <p:nvPr/>
        </p:nvSpPr>
        <p:spPr>
          <a:xfrm>
            <a:off x="7673975" y="3688358"/>
            <a:ext cx="3702050" cy="1023541"/>
          </a:xfrm>
          <a:prstGeom prst="roundRect">
            <a:avLst>
              <a:gd name="adj" fmla="val 9616"/>
            </a:avLst>
          </a:prstGeom>
          <a:solidFill>
            <a:srgbClr val="FFFFFF"/>
          </a:solidFill>
          <a:ln w="6350">
            <a:solidFill>
              <a:srgbClr val="E0DCCF"/>
            </a:solidFill>
            <a:prstDash val="solid"/>
          </a:ln>
        </p:spPr>
      </p:sp>
      <p:sp>
        <p:nvSpPr>
          <p:cNvPr id="13" name="Text 10"/>
          <p:cNvSpPr/>
          <p:nvPr/>
        </p:nvSpPr>
        <p:spPr>
          <a:xfrm>
            <a:off x="7867650" y="3843933"/>
            <a:ext cx="34141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85410"/>
                </a:solidFill>
                <a:latin typeface="Inter" pitchFamily="34" charset="0"/>
                <a:ea typeface="Inter" pitchFamily="34" charset="-122"/>
                <a:cs typeface="Inter" pitchFamily="34" charset="-120"/>
              </a:rPr>
              <a:t>Context</a:t>
            </a:r>
            <a:endParaRPr lang="en-US" sz="1500" dirty="0"/>
          </a:p>
        </p:txBody>
      </p:sp>
      <p:sp>
        <p:nvSpPr>
          <p:cNvPr id="14" name="Text 11"/>
          <p:cNvSpPr/>
          <p:nvPr/>
        </p:nvSpPr>
        <p:spPr>
          <a:xfrm>
            <a:off x="7867650" y="4110633"/>
            <a:ext cx="34141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452"/>
                </a:solidFill>
                <a:latin typeface="Inter" pitchFamily="34" charset="0"/>
                <a:ea typeface="Inter" pitchFamily="34" charset="-122"/>
                <a:cs typeface="Inter" pitchFamily="34" charset="-120"/>
              </a:rPr>
              <a:t>64 to 128 helps. 256 doubles time for 0.007.</a:t>
            </a:r>
            <a:endParaRPr lang="en-US" sz="1300" dirty="0"/>
          </a:p>
        </p:txBody>
      </p:sp>
      <p:sp>
        <p:nvSpPr>
          <p:cNvPr id="15" name="Text 12"/>
          <p:cNvSpPr/>
          <p:nvPr/>
        </p:nvSpPr>
        <p:spPr>
          <a:xfrm>
            <a:off x="812800" y="504696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2,000 steps per run, same seed, base config 4 layers, 4 heads, context 128.</a:t>
            </a:r>
            <a:endParaRPr lang="en-US" sz="1400" dirty="0"/>
          </a:p>
        </p:txBody>
      </p:sp>
      <p:sp>
        <p:nvSpPr>
          <p:cNvPr id="16" name="Text 13"/>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C2430"/>
                </a:solidFill>
                <a:latin typeface="Source Serif 4" pitchFamily="18" charset="0"/>
                <a:ea typeface="Source Serif 4" pitchFamily="18" charset="-122"/>
                <a:cs typeface="Source Serif 4" pitchFamily="18" charset="-120"/>
              </a:rPr>
              <a:t>Failure modes and likely causes</a:t>
            </a:r>
            <a:endParaRPr lang="en-US" sz="3400" dirty="0"/>
          </a:p>
        </p:txBody>
      </p:sp>
      <p:sp>
        <p:nvSpPr>
          <p:cNvPr id="3" name="Shape 1"/>
          <p:cNvSpPr/>
          <p:nvPr/>
        </p:nvSpPr>
        <p:spPr>
          <a:xfrm>
            <a:off x="815975" y="1544935"/>
            <a:ext cx="3380284" cy="2805113"/>
          </a:xfrm>
          <a:prstGeom prst="roundRect">
            <a:avLst>
              <a:gd name="adj" fmla="val 3509"/>
            </a:avLst>
          </a:prstGeom>
          <a:solidFill>
            <a:srgbClr val="FFFFFF"/>
          </a:solidFill>
          <a:ln w="6350">
            <a:solidFill>
              <a:srgbClr val="E0DCCF"/>
            </a:solidFill>
            <a:prstDash val="solid"/>
          </a:ln>
        </p:spPr>
      </p:sp>
      <p:sp>
        <p:nvSpPr>
          <p:cNvPr id="4" name="Text 2"/>
          <p:cNvSpPr/>
          <p:nvPr/>
        </p:nvSpPr>
        <p:spPr>
          <a:xfrm>
            <a:off x="1073150" y="1802110"/>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410"/>
                </a:solidFill>
                <a:latin typeface="Inter" pitchFamily="34" charset="0"/>
                <a:ea typeface="Inter" pitchFamily="34" charset="-122"/>
                <a:cs typeface="Inter" pitchFamily="34" charset="-120"/>
              </a:rPr>
              <a:t>Greedy loops</a:t>
            </a:r>
            <a:endParaRPr lang="en-US" sz="1800" dirty="0"/>
          </a:p>
        </p:txBody>
      </p:sp>
      <p:sp>
        <p:nvSpPr>
          <p:cNvPr id="5" name="Text 3"/>
          <p:cNvSpPr/>
          <p:nvPr/>
        </p:nvSpPr>
        <p:spPr>
          <a:xfrm>
            <a:off x="1073150" y="2177951"/>
            <a:ext cx="295191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"the season of the season of the seasons..." Distinct 4-grams: 0.31 greedy vs 0.95 sampled.</a:t>
            </a:r>
            <a:endParaRPr lang="en-US" sz="1500" dirty="0"/>
          </a:p>
        </p:txBody>
      </p:sp>
      <p:sp>
        <p:nvSpPr>
          <p:cNvPr id="6" name="Text 4"/>
          <p:cNvSpPr/>
          <p:nvPr/>
        </p:nvSpPr>
        <p:spPr>
          <a:xfrm>
            <a:off x="1073150" y="334635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Cause: the top character keeps reinforcing the repeated phrase. Fix: temperature plus top-k.</a:t>
            </a:r>
            <a:endParaRPr lang="en-US" sz="1400" dirty="0"/>
          </a:p>
        </p:txBody>
      </p:sp>
      <p:sp>
        <p:nvSpPr>
          <p:cNvPr id="7" name="Shape 5"/>
          <p:cNvSpPr/>
          <p:nvPr/>
        </p:nvSpPr>
        <p:spPr>
          <a:xfrm>
            <a:off x="4405809" y="1544935"/>
            <a:ext cx="3380383" cy="2805113"/>
          </a:xfrm>
          <a:prstGeom prst="roundRect">
            <a:avLst>
              <a:gd name="adj" fmla="val 3509"/>
            </a:avLst>
          </a:prstGeom>
          <a:solidFill>
            <a:srgbClr val="FFFFFF"/>
          </a:solidFill>
          <a:ln w="6350">
            <a:solidFill>
              <a:srgbClr val="E0DCCF"/>
            </a:solidFill>
            <a:prstDash val="solid"/>
          </a:ln>
        </p:spPr>
      </p:sp>
      <p:sp>
        <p:nvSpPr>
          <p:cNvPr id="8" name="Text 6"/>
          <p:cNvSpPr/>
          <p:nvPr/>
        </p:nvSpPr>
        <p:spPr>
          <a:xfrm>
            <a:off x="4662984" y="1802110"/>
            <a:ext cx="29520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410"/>
                </a:solidFill>
                <a:latin typeface="Inter" pitchFamily="34" charset="0"/>
                <a:ea typeface="Inter" pitchFamily="34" charset="-122"/>
                <a:cs typeface="Inter" pitchFamily="34" charset="-120"/>
              </a:rPr>
              <a:t>Invented words</a:t>
            </a:r>
            <a:endParaRPr lang="en-US" sz="1800" dirty="0"/>
          </a:p>
        </p:txBody>
      </p:sp>
      <p:sp>
        <p:nvSpPr>
          <p:cNvPr id="9" name="Text 7"/>
          <p:cNvSpPr/>
          <p:nvPr/>
        </p:nvSpPr>
        <p:spPr>
          <a:xfrm>
            <a:off x="4662984" y="2177951"/>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"orason", "kedgess", and replies that ignore the previous line.</a:t>
            </a:r>
            <a:endParaRPr lang="en-US" sz="1500" dirty="0"/>
          </a:p>
        </p:txBody>
      </p:sp>
      <p:sp>
        <p:nvSpPr>
          <p:cNvPr id="10" name="Text 8"/>
          <p:cNvSpPr/>
          <p:nvPr/>
        </p:nvSpPr>
        <p:spPr>
          <a:xfrm>
            <a:off x="4662984" y="3079651"/>
            <a:ext cx="2952014"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Cause: character-level spelling, 3M parameters, 1 MB of data, and a 128-character window of about two lines.</a:t>
            </a:r>
            <a:endParaRPr lang="en-US" sz="1400" dirty="0"/>
          </a:p>
        </p:txBody>
      </p:sp>
      <p:sp>
        <p:nvSpPr>
          <p:cNvPr id="11" name="Shape 9"/>
          <p:cNvSpPr/>
          <p:nvPr/>
        </p:nvSpPr>
        <p:spPr>
          <a:xfrm>
            <a:off x="7995741" y="1544935"/>
            <a:ext cx="3380284" cy="2805113"/>
          </a:xfrm>
          <a:prstGeom prst="roundRect">
            <a:avLst>
              <a:gd name="adj" fmla="val 3509"/>
            </a:avLst>
          </a:prstGeom>
          <a:solidFill>
            <a:srgbClr val="FFFFFF"/>
          </a:solidFill>
          <a:ln w="6350">
            <a:solidFill>
              <a:srgbClr val="E0DCCF"/>
            </a:solidFill>
            <a:prstDash val="solid"/>
          </a:ln>
        </p:spPr>
      </p:sp>
      <p:sp>
        <p:nvSpPr>
          <p:cNvPr id="12" name="Text 10"/>
          <p:cNvSpPr/>
          <p:nvPr/>
        </p:nvSpPr>
        <p:spPr>
          <a:xfrm>
            <a:off x="8252916" y="1802110"/>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410"/>
                </a:solidFill>
                <a:latin typeface="Inter" pitchFamily="34" charset="0"/>
                <a:ea typeface="Inter" pitchFamily="34" charset="-122"/>
                <a:cs typeface="Inter" pitchFamily="34" charset="-120"/>
              </a:rPr>
              <a:t>Train-validation gap</a:t>
            </a:r>
            <a:endParaRPr lang="en-US" sz="1800" dirty="0"/>
          </a:p>
        </p:txBody>
      </p:sp>
      <p:sp>
        <p:nvSpPr>
          <p:cNvPr id="13" name="Text 11"/>
          <p:cNvSpPr/>
          <p:nvPr/>
        </p:nvSpPr>
        <p:spPr>
          <a:xfrm>
            <a:off x="8252916" y="217795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452"/>
                </a:solidFill>
                <a:latin typeface="Inter" pitchFamily="34" charset="0"/>
                <a:ea typeface="Inter" pitchFamily="34" charset="-122"/>
                <a:cs typeface="Inter" pitchFamily="34" charset="-120"/>
              </a:rPr>
              <a:t>1.28 vs 1.51 after about 40 passes over the data.</a:t>
            </a:r>
            <a:endParaRPr lang="en-US" sz="1500" dirty="0"/>
          </a:p>
        </p:txBody>
      </p:sp>
      <p:sp>
        <p:nvSpPr>
          <p:cNvPr id="14" name="Text 12"/>
          <p:cNvSpPr/>
          <p:nvPr/>
        </p:nvSpPr>
        <p:spPr>
          <a:xfrm>
            <a:off x="8252916" y="281295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Cause: partial memorization. Dropout and weight decay limit it; more data would close it.</a:t>
            </a:r>
            <a:endParaRPr lang="en-US" sz="1400" dirty="0"/>
          </a:p>
        </p:txBody>
      </p:sp>
      <p:sp>
        <p:nvSpPr>
          <p:cNvPr id="15" name="Text 13"/>
          <p:cNvSpPr/>
          <p:nvPr/>
        </p:nvSpPr>
        <p:spPr>
          <a:xfrm>
            <a:off x="812800" y="6238280"/>
            <a:ext cx="289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MiniGPT · Transformer Deep Dive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8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3EFE6"/>
                </a:solidFill>
                <a:latin typeface="Source Serif 4" pitchFamily="18" charset="0"/>
                <a:ea typeface="Source Serif 4" pitchFamily="18" charset="-122"/>
                <a:cs typeface="Source Serif 4" pitchFamily="18" charset="-120"/>
              </a:rPr>
              <a:t>Live API and takeaways</a:t>
            </a:r>
            <a:endParaRPr lang="en-US" sz="3400" dirty="0"/>
          </a:p>
        </p:txBody>
      </p:sp>
      <p:sp>
        <p:nvSpPr>
          <p:cNvPr id="3" name="Shape 1"/>
          <p:cNvSpPr/>
          <p:nvPr/>
        </p:nvSpPr>
        <p:spPr>
          <a:xfrm>
            <a:off x="812800" y="1541760"/>
            <a:ext cx="5588000" cy="2940050"/>
          </a:xfrm>
          <a:prstGeom prst="roundRect">
            <a:avLst>
              <a:gd name="adj" fmla="val 3456"/>
            </a:avLst>
          </a:prstGeom>
          <a:solidFill>
            <a:srgbClr val="1C2738"/>
          </a:solidFill>
          <a:ln/>
        </p:spPr>
      </p:sp>
      <p:pic>
        <p:nvPicPr>
          <p:cNvPr id="4" name="Image 0" descr="Live API response from the deployed MiniGPT service: HTTP 200 with generated Shakespeare-style text and 3,192,832 parameters">    </p:cNvPr>
          <p:cNvPicPr>
            <a:picLocks noChangeAspect="1"/>
          </p:cNvPicPr>
          <p:nvPr/>
        </p:nvPicPr>
        <p:blipFill>
          <a:blip r:embed="rId1"/>
          <a:srcRect l="0" r="0" t="-5" b="-5"/>
          <a:stretch/>
        </p:blipFill>
        <p:spPr>
          <a:xfrm>
            <a:off x="812800" y="1541760"/>
            <a:ext cx="5588000" cy="2940050"/>
          </a:xfrm>
          <a:prstGeom prst="roundRect">
            <a:avLst>
              <a:gd name="adj" fmla="val 3456"/>
            </a:avLst>
          </a:prstGeom>
        </p:spPr>
      </p:pic>
      <p:sp>
        <p:nvSpPr>
          <p:cNvPr id="5" name="Text 2"/>
          <p:cNvSpPr/>
          <p:nvPr/>
        </p:nvSpPr>
        <p:spPr>
          <a:xfrm>
            <a:off x="6756400" y="2078434"/>
            <a:ext cx="4761484"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FD0C8"/>
                </a:solidFill>
                <a:latin typeface="Inter" pitchFamily="34" charset="0"/>
                <a:ea typeface="Inter" pitchFamily="34" charset="-122"/>
                <a:cs typeface="Inter" pitchFamily="34" charset="-120"/>
              </a:rPr>
              <a:t>1.</a:t>
            </a:r>
            <a:r>
              <a:rPr lang="en-US" sz="1700" dirty="0">
                <a:solidFill>
                  <a:srgbClr val="F3EFE6"/>
                </a:solidFill>
                <a:latin typeface="Inter" pitchFamily="34" charset="0"/>
                <a:ea typeface="Inter" pitchFamily="34" charset="-122"/>
                <a:cs typeface="Inter" pitchFamily="34" charset="-120"/>
              </a:rPr>
              <a:t> The causal mask is what makes next-token training valid.</a:t>
            </a:r>
            <a:endParaRPr lang="en-US" sz="1700" dirty="0"/>
          </a:p>
        </p:txBody>
      </p:sp>
      <p:sp>
        <p:nvSpPr>
          <p:cNvPr id="6" name="Text 3"/>
          <p:cNvSpPr/>
          <p:nvPr/>
        </p:nvSpPr>
        <p:spPr>
          <a:xfrm>
            <a:off x="6756400" y="2860675"/>
            <a:ext cx="4761484"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FD0C8"/>
                </a:solidFill>
                <a:latin typeface="Inter" pitchFamily="34" charset="0"/>
                <a:ea typeface="Inter" pitchFamily="34" charset="-122"/>
                <a:cs typeface="Inter" pitchFamily="34" charset="-120"/>
              </a:rPr>
              <a:t>2.</a:t>
            </a:r>
            <a:r>
              <a:rPr lang="en-US" sz="1700" dirty="0">
                <a:solidFill>
                  <a:srgbClr val="F3EFE6"/>
                </a:solidFill>
                <a:latin typeface="Inter" pitchFamily="34" charset="0"/>
                <a:ea typeface="Inter" pitchFamily="34" charset="-122"/>
                <a:cs typeface="Inter" pitchFamily="34" charset="-120"/>
              </a:rPr>
              <a:t> Depth and context help, with diminishing returns. Heads barely matter here.</a:t>
            </a:r>
            <a:endParaRPr lang="en-US" sz="1700" dirty="0"/>
          </a:p>
        </p:txBody>
      </p:sp>
      <p:sp>
        <p:nvSpPr>
          <p:cNvPr id="7" name="Text 4"/>
          <p:cNvSpPr/>
          <p:nvPr/>
        </p:nvSpPr>
        <p:spPr>
          <a:xfrm>
            <a:off x="6756400" y="3642916"/>
            <a:ext cx="476148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FD0C8"/>
                </a:solidFill>
                <a:latin typeface="Inter" pitchFamily="34" charset="0"/>
                <a:ea typeface="Inter" pitchFamily="34" charset="-122"/>
                <a:cs typeface="Inter" pitchFamily="34" charset="-120"/>
              </a:rPr>
              <a:t>3.</a:t>
            </a:r>
            <a:r>
              <a:rPr lang="en-US" sz="1700" dirty="0">
                <a:solidFill>
                  <a:srgbClr val="F3EFE6"/>
                </a:solidFill>
                <a:latin typeface="Inter" pitchFamily="34" charset="0"/>
                <a:ea typeface="Inter" pitchFamily="34" charset="-122"/>
                <a:cs typeface="Inter" pitchFamily="34" charset="-120"/>
              </a:rPr>
              <a:t> Decoding matters as much as the model.</a:t>
            </a:r>
            <a:endParaRPr lang="en-US" sz="1700" dirty="0"/>
          </a:p>
        </p:txBody>
      </p:sp>
      <p:sp>
        <p:nvSpPr>
          <p:cNvPr id="8" name="Text 5"/>
          <p:cNvSpPr/>
          <p:nvPr/>
        </p:nvSpPr>
        <p:spPr>
          <a:xfrm>
            <a:off x="812800" y="473581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AB4C3"/>
                </a:solidFill>
                <a:latin typeface="Inter" pitchFamily="34" charset="0"/>
                <a:ea typeface="Inter" pitchFamily="34" charset="-122"/>
                <a:cs typeface="Inter" pitchFamily="34" charset="-120"/>
              </a:rPr>
              <a:t>Code: </a:t>
            </a:r>
            <a:r>
              <a:rPr lang="en-US" sz="1400" u="sng" dirty="0">
                <a:solidFill>
                  <a:srgbClr val="5FD0C8"/>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github.com/AyanMoeen/AI-Engineering-Assignment-1</a:t>
            </a:r>
            <a:endParaRPr lang="en-US" sz="1400" dirty="0"/>
          </a:p>
        </p:txBody>
      </p:sp>
      <p:sp>
        <p:nvSpPr>
          <p:cNvPr id="9" name="Text 6"/>
          <p:cNvSpPr/>
          <p:nvPr/>
        </p:nvSpPr>
        <p:spPr>
          <a:xfrm>
            <a:off x="812800" y="504815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AB4C3"/>
                </a:solidFill>
                <a:latin typeface="Inter" pitchFamily="34" charset="0"/>
                <a:ea typeface="Inter" pitchFamily="34" charset="-122"/>
                <a:cs typeface="Inter" pitchFamily="34" charset="-120"/>
              </a:rPr>
              <a:t>Live API: </a:t>
            </a:r>
            <a:r>
              <a:rPr lang="en-US" sz="1400" u="sng" dirty="0">
                <a:solidFill>
                  <a:srgbClr val="5FD0C8"/>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ai-engineering-assignment-1-production.up.railway.app/docs</a:t>
            </a:r>
            <a:endParaRPr lang="en-US" sz="1400" dirty="0"/>
          </a:p>
        </p:txBody>
      </p:sp>
      <p:sp>
        <p:nvSpPr>
          <p:cNvPr id="10" name="Text 7"/>
          <p:cNvSpPr/>
          <p:nvPr/>
        </p:nvSpPr>
        <p:spPr>
          <a:xfrm>
            <a:off x="812800" y="536049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AB4C3"/>
                </a:solidFill>
                <a:latin typeface="Inter" pitchFamily="34" charset="0"/>
                <a:ea typeface="Inter" pitchFamily="34" charset="-122"/>
                <a:cs typeface="Inter" pitchFamily="34" charset="-120"/>
              </a:rPr>
              <a:t>Report: </a:t>
            </a:r>
            <a:r>
              <a:rPr lang="en-US" sz="1400" u="sng" dirty="0">
                <a:solidFill>
                  <a:srgbClr val="5FD0C8"/>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medium.com/@i230124/building-a-small-gpt-from-scratch</a:t>
            </a:r>
            <a:endParaRPr lang="en-US" sz="1400" dirty="0"/>
          </a:p>
        </p:txBody>
      </p:sp>
    </p:spTree>
  </p:cSld>
  <p:clrMapOvr>
    <a:masterClrMapping/>
  </p:clrMapOvr>
</p:sld>
</file>

<file path=ppt/theme/theme1.xml><?xml version="1.0" encoding="utf-8"?>
<a:theme xmlns:a="http://schemas.openxmlformats.org/drawingml/2006/main" name="MiniGPT: a small GPT built from scratch">
  <a:themeElements>
    <a:clrScheme name="MiniGPT: a small GPT built from scratch">
      <a:dk1>
        <a:srgbClr val="1C2430"/>
      </a:dk1>
      <a:lt1>
        <a:srgbClr val="F6F3EC"/>
      </a:lt1>
      <a:dk2>
        <a:srgbClr val="53585F"/>
      </a:dk2>
      <a:lt2>
        <a:srgbClr val="E0DED9"/>
      </a:lt2>
      <a:accent1>
        <a:srgbClr val="0E7C7B"/>
      </a:accent1>
      <a:accent2>
        <a:srgbClr val="A85410"/>
      </a:accent2>
      <a:accent3>
        <a:srgbClr val="5FD0C8"/>
      </a:accent3>
      <a:accent4>
        <a:srgbClr val="F2B35A"/>
      </a:accent4>
      <a:accent5>
        <a:srgbClr val="3A4452"/>
      </a:accent5>
      <a:accent6>
        <a:srgbClr val="5B6573"/>
      </a:accent6>
      <a:hlink>
        <a:srgbClr val="0563C1"/>
      </a:hlink>
      <a:folHlink>
        <a:srgbClr val="954F72"/>
      </a:folHlink>
    </a:clrScheme>
    <a:fontScheme name="MiniGPT: a small GPT built from scra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MiniGPT: a small GPT built from scratch</dc:title>
  <dc:subject/>
  <dc:creator/>
  <cp:lastModifiedBy/>
  <cp:revision>1</cp:revision>
  <dcterms:created xsi:type="dcterms:W3CDTF">2026-10-11T06:32:10Z</dcterms:created>
  <dcterms:modified xsi:type="dcterms:W3CDTF">2026-10-11T06:32:10Z</dcterms:modified>
</cp:coreProperties>
</file>